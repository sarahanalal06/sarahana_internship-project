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TT Hoves Bold" charset="1" panose="02000003020000060003"/>
      <p:regular r:id="rId19"/>
    </p:embeddedFont>
    <p:embeddedFont>
      <p:font typeface="TT Hoves" charset="1" panose="02000003020000060003"/>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17172" y="0"/>
                  </a:moveTo>
                  <a:lnTo>
                    <a:pt x="4257554" y="0"/>
                  </a:lnTo>
                  <a:cubicBezTo>
                    <a:pt x="4267038" y="0"/>
                    <a:pt x="4274726" y="7688"/>
                    <a:pt x="4274726" y="17172"/>
                  </a:cubicBezTo>
                  <a:lnTo>
                    <a:pt x="4274726" y="2150295"/>
                  </a:lnTo>
                  <a:cubicBezTo>
                    <a:pt x="4274726" y="2159779"/>
                    <a:pt x="4267038" y="2167467"/>
                    <a:pt x="4257554" y="2167467"/>
                  </a:cubicBezTo>
                  <a:lnTo>
                    <a:pt x="17172" y="2167467"/>
                  </a:lnTo>
                  <a:cubicBezTo>
                    <a:pt x="7688" y="2167467"/>
                    <a:pt x="0" y="2159779"/>
                    <a:pt x="0" y="2150295"/>
                  </a:cubicBezTo>
                  <a:lnTo>
                    <a:pt x="0" y="17172"/>
                  </a:lnTo>
                  <a:cubicBezTo>
                    <a:pt x="0" y="7688"/>
                    <a:pt x="7688" y="0"/>
                    <a:pt x="17172" y="0"/>
                  </a:cubicBezTo>
                  <a:close/>
                </a:path>
              </a:pathLst>
            </a:custGeom>
            <a:gradFill rotWithShape="true">
              <a:gsLst>
                <a:gs pos="0">
                  <a:srgbClr val="000000">
                    <a:alpha val="70000"/>
                  </a:srgbClr>
                </a:gs>
                <a:gs pos="100000">
                  <a:srgbClr val="33CD67">
                    <a:alpha val="70000"/>
                  </a:srgbClr>
                </a:gs>
              </a:gsLst>
              <a:lin ang="0"/>
            </a:gradFill>
            <a:ln w="47625" cap="rnd">
              <a:solidFill>
                <a:srgbClr val="BEC2C7">
                  <a:alpha val="69804"/>
                </a:srgbClr>
              </a:solidFill>
              <a:prstDash val="solid"/>
              <a:round/>
            </a:ln>
          </p:spPr>
        </p:sp>
        <p:sp>
          <p:nvSpPr>
            <p:cNvPr name="TextBox 5" id="5"/>
            <p:cNvSpPr txBox="true"/>
            <p:nvPr/>
          </p:nvSpPr>
          <p:spPr>
            <a:xfrm>
              <a:off x="0" y="-47625"/>
              <a:ext cx="4274726" cy="2215092"/>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1106061" y="4219279"/>
            <a:ext cx="6954408" cy="6067721"/>
          </a:xfrm>
          <a:custGeom>
            <a:avLst/>
            <a:gdLst/>
            <a:ahLst/>
            <a:cxnLst/>
            <a:rect r="r" b="b" t="t" l="l"/>
            <a:pathLst>
              <a:path h="6067721" w="6954408">
                <a:moveTo>
                  <a:pt x="0" y="0"/>
                </a:moveTo>
                <a:lnTo>
                  <a:pt x="6954407" y="0"/>
                </a:lnTo>
                <a:lnTo>
                  <a:pt x="6954407" y="6067721"/>
                </a:lnTo>
                <a:lnTo>
                  <a:pt x="0" y="6067721"/>
                </a:lnTo>
                <a:lnTo>
                  <a:pt x="0" y="0"/>
                </a:lnTo>
                <a:close/>
              </a:path>
            </a:pathLst>
          </a:custGeom>
          <a:blipFill>
            <a:blip r:embed="rId3"/>
            <a:stretch>
              <a:fillRect l="0" t="0" r="0" b="0"/>
            </a:stretch>
          </a:blipFill>
        </p:spPr>
      </p:sp>
      <p:sp>
        <p:nvSpPr>
          <p:cNvPr name="TextBox 7" id="7"/>
          <p:cNvSpPr txBox="true"/>
          <p:nvPr/>
        </p:nvSpPr>
        <p:spPr>
          <a:xfrm rot="0">
            <a:off x="2412078" y="3085524"/>
            <a:ext cx="13025526" cy="3662136"/>
          </a:xfrm>
          <a:prstGeom prst="rect">
            <a:avLst/>
          </a:prstGeom>
        </p:spPr>
        <p:txBody>
          <a:bodyPr anchor="t" rtlCol="false" tIns="0" lIns="0" bIns="0" rIns="0">
            <a:spAutoFit/>
          </a:bodyPr>
          <a:lstStyle/>
          <a:p>
            <a:pPr algn="l">
              <a:lnSpc>
                <a:spcPts val="14727"/>
              </a:lnSpc>
            </a:pPr>
            <a:r>
              <a:rPr lang="en-US" sz="10519" b="true">
                <a:solidFill>
                  <a:srgbClr val="CFFFBB"/>
                </a:solidFill>
                <a:latin typeface="TT Hoves Bold"/>
                <a:ea typeface="TT Hoves Bold"/>
                <a:cs typeface="TT Hoves Bold"/>
                <a:sym typeface="TT Hoves Bold"/>
              </a:rPr>
              <a:t>Stock Market</a:t>
            </a:r>
          </a:p>
          <a:p>
            <a:pPr algn="l">
              <a:lnSpc>
                <a:spcPts val="14727"/>
              </a:lnSpc>
            </a:pPr>
            <a:r>
              <a:rPr lang="en-US" sz="10519" b="true">
                <a:solidFill>
                  <a:srgbClr val="CFFFBB"/>
                </a:solidFill>
                <a:latin typeface="TT Hoves Bold"/>
                <a:ea typeface="TT Hoves Bold"/>
                <a:cs typeface="TT Hoves Bold"/>
                <a:sym typeface="TT Hoves Bold"/>
              </a:rPr>
              <a:t>&amp; Cryptocurrency</a:t>
            </a:r>
          </a:p>
        </p:txBody>
      </p:sp>
      <p:sp>
        <p:nvSpPr>
          <p:cNvPr name="TextBox 8" id="8"/>
          <p:cNvSpPr txBox="true"/>
          <p:nvPr/>
        </p:nvSpPr>
        <p:spPr>
          <a:xfrm rot="0">
            <a:off x="708233" y="7167415"/>
            <a:ext cx="6734880" cy="826462"/>
          </a:xfrm>
          <a:prstGeom prst="rect">
            <a:avLst/>
          </a:prstGeom>
        </p:spPr>
        <p:txBody>
          <a:bodyPr anchor="t" rtlCol="false" tIns="0" lIns="0" bIns="0" rIns="0">
            <a:spAutoFit/>
          </a:bodyPr>
          <a:lstStyle/>
          <a:p>
            <a:pPr algn="ctr">
              <a:lnSpc>
                <a:spcPts val="6893"/>
              </a:lnSpc>
              <a:spcBef>
                <a:spcPct val="0"/>
              </a:spcBef>
            </a:pPr>
            <a:r>
              <a:rPr lang="en-US" sz="4923">
                <a:solidFill>
                  <a:srgbClr val="C3FFAB"/>
                </a:solidFill>
                <a:latin typeface="TT Hoves"/>
                <a:ea typeface="TT Hoves"/>
                <a:cs typeface="TT Hoves"/>
                <a:sym typeface="TT Hoves"/>
              </a:rPr>
              <a:t>Sarahana Lal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grpSp>
        <p:nvGrpSpPr>
          <p:cNvPr name="Group 2" id="2"/>
          <p:cNvGrpSpPr/>
          <p:nvPr/>
        </p:nvGrpSpPr>
        <p:grpSpPr>
          <a:xfrm rot="0">
            <a:off x="0" y="-27760"/>
            <a:ext cx="8343913" cy="11375203"/>
            <a:chOff x="0" y="0"/>
            <a:chExt cx="2197574" cy="2995938"/>
          </a:xfrm>
        </p:grpSpPr>
        <p:sp>
          <p:nvSpPr>
            <p:cNvPr name="Freeform 3" id="3"/>
            <p:cNvSpPr/>
            <p:nvPr/>
          </p:nvSpPr>
          <p:spPr>
            <a:xfrm flipH="false" flipV="false" rot="0">
              <a:off x="0" y="0"/>
              <a:ext cx="2197574" cy="2995938"/>
            </a:xfrm>
            <a:custGeom>
              <a:avLst/>
              <a:gdLst/>
              <a:ahLst/>
              <a:cxnLst/>
              <a:rect r="r" b="b" t="t" l="l"/>
              <a:pathLst>
                <a:path h="2995938" w="2197574">
                  <a:moveTo>
                    <a:pt x="0" y="0"/>
                  </a:moveTo>
                  <a:lnTo>
                    <a:pt x="2197574" y="0"/>
                  </a:lnTo>
                  <a:lnTo>
                    <a:pt x="2197574" y="2995938"/>
                  </a:lnTo>
                  <a:lnTo>
                    <a:pt x="0" y="2995938"/>
                  </a:lnTo>
                  <a:close/>
                </a:path>
              </a:pathLst>
            </a:custGeom>
            <a:gradFill rotWithShape="true">
              <a:gsLst>
                <a:gs pos="0">
                  <a:srgbClr val="000000">
                    <a:alpha val="100000"/>
                  </a:srgbClr>
                </a:gs>
                <a:gs pos="100000">
                  <a:srgbClr val="37CC73">
                    <a:alpha val="100000"/>
                  </a:srgbClr>
                </a:gs>
              </a:gsLst>
              <a:lin ang="0"/>
            </a:gradFill>
          </p:spPr>
        </p:sp>
        <p:sp>
          <p:nvSpPr>
            <p:cNvPr name="TextBox 4" id="4"/>
            <p:cNvSpPr txBox="true"/>
            <p:nvPr/>
          </p:nvSpPr>
          <p:spPr>
            <a:xfrm>
              <a:off x="0" y="-47625"/>
              <a:ext cx="2197574" cy="3043563"/>
            </a:xfrm>
            <a:prstGeom prst="rect">
              <a:avLst/>
            </a:prstGeom>
          </p:spPr>
          <p:txBody>
            <a:bodyPr anchor="ctr" rtlCol="false" tIns="50800" lIns="50800" bIns="50800" rIns="50800"/>
            <a:lstStyle/>
            <a:p>
              <a:pPr algn="ctr">
                <a:lnSpc>
                  <a:spcPts val="2940"/>
                </a:lnSpc>
              </a:pPr>
            </a:p>
          </p:txBody>
        </p:sp>
      </p:grpSp>
      <p:grpSp>
        <p:nvGrpSpPr>
          <p:cNvPr name="Group 5" id="5"/>
          <p:cNvGrpSpPr>
            <a:grpSpLocks noChangeAspect="true"/>
          </p:cNvGrpSpPr>
          <p:nvPr/>
        </p:nvGrpSpPr>
        <p:grpSpPr>
          <a:xfrm rot="0">
            <a:off x="1163815" y="1255150"/>
            <a:ext cx="6016283" cy="11904250"/>
            <a:chOff x="0" y="0"/>
            <a:chExt cx="2620010" cy="5184140"/>
          </a:xfrm>
        </p:grpSpPr>
        <p:sp>
          <p:nvSpPr>
            <p:cNvPr name="Freeform 6" id="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7" id="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143488" t="0" r="-81159" b="0"/>
              </a:stretch>
            </a:blipFill>
          </p:spPr>
        </p:sp>
        <p:sp>
          <p:nvSpPr>
            <p:cNvPr name="Freeform 8" id="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name="Freeform 9" id="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sp>
        <p:sp>
          <p:nvSpPr>
            <p:cNvPr name="Freeform 10" id="1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name="Freeform 11" id="1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name="Freeform 12" id="1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name="Freeform 13" id="1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name="Freeform 14" id="1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name="Freeform 15" id="15"/>
          <p:cNvSpPr/>
          <p:nvPr/>
        </p:nvSpPr>
        <p:spPr>
          <a:xfrm flipH="false" flipV="false" rot="-10800000">
            <a:off x="12914057" y="4912700"/>
            <a:ext cx="8379362" cy="8089893"/>
          </a:xfrm>
          <a:custGeom>
            <a:avLst/>
            <a:gdLst/>
            <a:ahLst/>
            <a:cxnLst/>
            <a:rect r="r" b="b" t="t" l="l"/>
            <a:pathLst>
              <a:path h="8089893" w="8379362">
                <a:moveTo>
                  <a:pt x="0" y="0"/>
                </a:moveTo>
                <a:lnTo>
                  <a:pt x="8379362" y="0"/>
                </a:lnTo>
                <a:lnTo>
                  <a:pt x="8379362" y="8089893"/>
                </a:lnTo>
                <a:lnTo>
                  <a:pt x="0" y="808989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8743986" y="4435503"/>
            <a:ext cx="1368835" cy="954393"/>
          </a:xfrm>
          <a:custGeom>
            <a:avLst/>
            <a:gdLst/>
            <a:ahLst/>
            <a:cxnLst/>
            <a:rect r="r" b="b" t="t" l="l"/>
            <a:pathLst>
              <a:path h="954393" w="1368835">
                <a:moveTo>
                  <a:pt x="0" y="0"/>
                </a:moveTo>
                <a:lnTo>
                  <a:pt x="1368835" y="0"/>
                </a:lnTo>
                <a:lnTo>
                  <a:pt x="1368835" y="954394"/>
                </a:lnTo>
                <a:lnTo>
                  <a:pt x="0" y="9543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0512893" y="4136984"/>
            <a:ext cx="4802328" cy="1522857"/>
          </a:xfrm>
          <a:prstGeom prst="rect">
            <a:avLst/>
          </a:prstGeom>
        </p:spPr>
        <p:txBody>
          <a:bodyPr anchor="t" rtlCol="false" tIns="0" lIns="0" bIns="0" rIns="0">
            <a:spAutoFit/>
          </a:bodyPr>
          <a:lstStyle/>
          <a:p>
            <a:pPr algn="l">
              <a:lnSpc>
                <a:spcPts val="6144"/>
              </a:lnSpc>
            </a:pPr>
            <a:r>
              <a:rPr lang="en-US" sz="4800">
                <a:solidFill>
                  <a:srgbClr val="41E39A"/>
                </a:solidFill>
                <a:latin typeface="TT Hoves"/>
                <a:ea typeface="TT Hoves"/>
                <a:cs typeface="TT Hoves"/>
                <a:sym typeface="TT Hoves"/>
              </a:rPr>
              <a:t>What is the Stock Market?</a:t>
            </a:r>
          </a:p>
        </p:txBody>
      </p:sp>
      <p:sp>
        <p:nvSpPr>
          <p:cNvPr name="TextBox 18" id="18"/>
          <p:cNvSpPr txBox="true"/>
          <p:nvPr/>
        </p:nvSpPr>
        <p:spPr>
          <a:xfrm rot="0">
            <a:off x="9372281" y="6071895"/>
            <a:ext cx="7083553" cy="2223135"/>
          </a:xfrm>
          <a:prstGeom prst="rect">
            <a:avLst/>
          </a:prstGeom>
        </p:spPr>
        <p:txBody>
          <a:bodyPr anchor="t" rtlCol="false" tIns="0" lIns="0" bIns="0" rIns="0">
            <a:spAutoFit/>
          </a:bodyPr>
          <a:lstStyle/>
          <a:p>
            <a:pPr algn="l">
              <a:lnSpc>
                <a:spcPts val="2940"/>
              </a:lnSpc>
            </a:pPr>
            <a:r>
              <a:rPr lang="en-US" sz="2100">
                <a:solidFill>
                  <a:srgbClr val="FFFFFF"/>
                </a:solidFill>
                <a:latin typeface="TT Hoves"/>
                <a:ea typeface="TT Hoves"/>
                <a:cs typeface="TT Hoves"/>
                <a:sym typeface="TT Hoves"/>
              </a:rPr>
              <a:t>The stock market is a financial system where individuals and organizations can buy and sell ownership shares in businesses. These ownership units are known as "stocks" or "shares." When someone buys a share, they are essentially purchasing a small piece of that company, with the potential to benefit from its growth and success.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9006194" y="1832821"/>
            <a:ext cx="8974243" cy="8180011"/>
          </a:xfrm>
          <a:prstGeom prst="rect">
            <a:avLst/>
          </a:prstGeom>
        </p:spPr>
      </p:pic>
      <p:sp>
        <p:nvSpPr>
          <p:cNvPr name="Freeform 3" id="3"/>
          <p:cNvSpPr/>
          <p:nvPr/>
        </p:nvSpPr>
        <p:spPr>
          <a:xfrm flipH="false" flipV="false" rot="0">
            <a:off x="1028700" y="7931212"/>
            <a:ext cx="6005824" cy="622422"/>
          </a:xfrm>
          <a:custGeom>
            <a:avLst/>
            <a:gdLst/>
            <a:ahLst/>
            <a:cxnLst/>
            <a:rect r="r" b="b" t="t" l="l"/>
            <a:pathLst>
              <a:path h="622422" w="6005824">
                <a:moveTo>
                  <a:pt x="0" y="0"/>
                </a:moveTo>
                <a:lnTo>
                  <a:pt x="6005824" y="0"/>
                </a:lnTo>
                <a:lnTo>
                  <a:pt x="6005824" y="622421"/>
                </a:lnTo>
                <a:lnTo>
                  <a:pt x="0" y="622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923925"/>
            <a:ext cx="10263591" cy="2689860"/>
          </a:xfrm>
          <a:prstGeom prst="rect">
            <a:avLst/>
          </a:prstGeom>
        </p:spPr>
        <p:txBody>
          <a:bodyPr anchor="t" rtlCol="false" tIns="0" lIns="0" bIns="0" rIns="0">
            <a:spAutoFit/>
          </a:bodyPr>
          <a:lstStyle/>
          <a:p>
            <a:pPr algn="l">
              <a:lnSpc>
                <a:spcPts val="7139"/>
              </a:lnSpc>
            </a:pPr>
            <a:r>
              <a:rPr lang="en-US" sz="5099">
                <a:solidFill>
                  <a:srgbClr val="B2FF81"/>
                </a:solidFill>
                <a:latin typeface="TT Hoves"/>
                <a:ea typeface="TT Hoves"/>
                <a:cs typeface="TT Hoves"/>
                <a:sym typeface="TT Hoves"/>
              </a:rPr>
              <a:t>Introduction to the Magic Band Indicator</a:t>
            </a:r>
          </a:p>
          <a:p>
            <a:pPr algn="l">
              <a:lnSpc>
                <a:spcPts val="7139"/>
              </a:lnSpc>
            </a:pPr>
          </a:p>
        </p:txBody>
      </p:sp>
      <p:sp>
        <p:nvSpPr>
          <p:cNvPr name="TextBox 5" id="5"/>
          <p:cNvSpPr txBox="true"/>
          <p:nvPr/>
        </p:nvSpPr>
        <p:spPr>
          <a:xfrm rot="0">
            <a:off x="1033304" y="3094537"/>
            <a:ext cx="8110696" cy="5599430"/>
          </a:xfrm>
          <a:prstGeom prst="rect">
            <a:avLst/>
          </a:prstGeom>
        </p:spPr>
        <p:txBody>
          <a:bodyPr anchor="t" rtlCol="false" tIns="0" lIns="0" bIns="0" rIns="0">
            <a:spAutoFit/>
          </a:bodyPr>
          <a:lstStyle/>
          <a:p>
            <a:pPr algn="l">
              <a:lnSpc>
                <a:spcPts val="3219"/>
              </a:lnSpc>
            </a:pPr>
            <a:r>
              <a:rPr lang="en-US" sz="2299">
                <a:solidFill>
                  <a:srgbClr val="FFFFFF"/>
                </a:solidFill>
                <a:latin typeface="TT Hoves"/>
                <a:ea typeface="TT Hoves"/>
                <a:cs typeface="TT Hoves"/>
                <a:sym typeface="TT Hoves"/>
              </a:rPr>
              <a:t>The Magic Band is an active graphic aid for trend direction determination, for determining levels for possible support and resistance, as well as levels for breakouts or reversals.</a:t>
            </a:r>
          </a:p>
          <a:p>
            <a:pPr algn="l">
              <a:lnSpc>
                <a:spcPts val="3219"/>
              </a:lnSpc>
            </a:pPr>
          </a:p>
          <a:p>
            <a:pPr algn="l">
              <a:lnSpc>
                <a:spcPts val="3219"/>
              </a:lnSpc>
            </a:pPr>
            <a:r>
              <a:rPr lang="en-US" sz="2299">
                <a:solidFill>
                  <a:srgbClr val="FFFFFF"/>
                </a:solidFill>
                <a:latin typeface="TT Hoves"/>
                <a:ea typeface="TT Hoves"/>
                <a:cs typeface="TT Hoves"/>
                <a:sym typeface="TT Hoves"/>
              </a:rPr>
              <a:t>It is made up of several bands that vary in contracted and expanded measures depending on the volatility of the markets.</a:t>
            </a:r>
          </a:p>
          <a:p>
            <a:pPr algn="l">
              <a:lnSpc>
                <a:spcPts val="3219"/>
              </a:lnSpc>
            </a:pPr>
          </a:p>
          <a:p>
            <a:pPr algn="l">
              <a:lnSpc>
                <a:spcPts val="3219"/>
              </a:lnSpc>
            </a:pPr>
            <a:r>
              <a:rPr lang="en-US" sz="2299">
                <a:solidFill>
                  <a:srgbClr val="FFFFFF"/>
                </a:solidFill>
                <a:latin typeface="TT Hoves"/>
                <a:ea typeface="TT Hoves"/>
                <a:cs typeface="TT Hoves"/>
                <a:sym typeface="TT Hoves"/>
              </a:rPr>
              <a:t>The price actions of traders are based on observations of interaction between the price levels of the upper and lower bands.</a:t>
            </a:r>
          </a:p>
          <a:p>
            <a:pPr algn="l">
              <a:lnSpc>
                <a:spcPts val="3219"/>
              </a:lnSpc>
            </a:pPr>
          </a:p>
          <a:p>
            <a:pPr algn="l">
              <a:lnSpc>
                <a:spcPts val="3219"/>
              </a:lnSpc>
            </a:pPr>
            <a:r>
              <a:rPr lang="en-US" sz="2299">
                <a:solidFill>
                  <a:srgbClr val="FFFFFF"/>
                </a:solidFill>
                <a:latin typeface="TT Hoves"/>
                <a:ea typeface="TT Hoves"/>
                <a:cs typeface="TT Hoves"/>
                <a:sym typeface="TT Hoves"/>
              </a:rPr>
              <a:t>Breakouts that happen above and below the bands can lead to major price actions, and touches may represent possible reversals.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sp>
        <p:nvSpPr>
          <p:cNvPr name="Freeform 2" id="2"/>
          <p:cNvSpPr/>
          <p:nvPr/>
        </p:nvSpPr>
        <p:spPr>
          <a:xfrm flipH="false" flipV="false" rot="0">
            <a:off x="9604937" y="3641133"/>
            <a:ext cx="7341488" cy="4698552"/>
          </a:xfrm>
          <a:custGeom>
            <a:avLst/>
            <a:gdLst/>
            <a:ahLst/>
            <a:cxnLst/>
            <a:rect r="r" b="b" t="t" l="l"/>
            <a:pathLst>
              <a:path h="4698552" w="7341488">
                <a:moveTo>
                  <a:pt x="0" y="0"/>
                </a:moveTo>
                <a:lnTo>
                  <a:pt x="7341488" y="0"/>
                </a:lnTo>
                <a:lnTo>
                  <a:pt x="7341488" y="4698553"/>
                </a:lnTo>
                <a:lnTo>
                  <a:pt x="0" y="46985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11133" y="933450"/>
            <a:ext cx="10263591" cy="2625725"/>
          </a:xfrm>
          <a:prstGeom prst="rect">
            <a:avLst/>
          </a:prstGeom>
        </p:spPr>
        <p:txBody>
          <a:bodyPr anchor="t" rtlCol="false" tIns="0" lIns="0" bIns="0" rIns="0">
            <a:spAutoFit/>
          </a:bodyPr>
          <a:lstStyle/>
          <a:p>
            <a:pPr algn="l">
              <a:lnSpc>
                <a:spcPts val="6999"/>
              </a:lnSpc>
            </a:pPr>
            <a:r>
              <a:rPr lang="en-US" sz="4999">
                <a:solidFill>
                  <a:srgbClr val="B2FF81"/>
                </a:solidFill>
                <a:latin typeface="TT Hoves"/>
                <a:ea typeface="TT Hoves"/>
                <a:cs typeface="TT Hoves"/>
                <a:sym typeface="TT Hoves"/>
              </a:rPr>
              <a:t>Understanding the Relative Strength Index (RSI)</a:t>
            </a:r>
          </a:p>
          <a:p>
            <a:pPr algn="l">
              <a:lnSpc>
                <a:spcPts val="6999"/>
              </a:lnSpc>
            </a:pPr>
          </a:p>
        </p:txBody>
      </p:sp>
      <p:sp>
        <p:nvSpPr>
          <p:cNvPr name="TextBox 4" id="4"/>
          <p:cNvSpPr txBox="true"/>
          <p:nvPr/>
        </p:nvSpPr>
        <p:spPr>
          <a:xfrm rot="0">
            <a:off x="1211133" y="3258820"/>
            <a:ext cx="8115300" cy="5999480"/>
          </a:xfrm>
          <a:prstGeom prst="rect">
            <a:avLst/>
          </a:prstGeom>
        </p:spPr>
        <p:txBody>
          <a:bodyPr anchor="t" rtlCol="false" tIns="0" lIns="0" bIns="0" rIns="0">
            <a:spAutoFit/>
          </a:bodyPr>
          <a:lstStyle/>
          <a:p>
            <a:pPr algn="l">
              <a:lnSpc>
                <a:spcPts val="3219"/>
              </a:lnSpc>
            </a:pPr>
            <a:r>
              <a:rPr lang="en-US" sz="2299">
                <a:solidFill>
                  <a:srgbClr val="FFFFFF"/>
                </a:solidFill>
                <a:latin typeface="TT Hoves"/>
                <a:ea typeface="TT Hoves"/>
                <a:cs typeface="TT Hoves"/>
                <a:sym typeface="TT Hoves"/>
              </a:rPr>
              <a:t>The RSI is a momentum oscillator that measures the speed and change of price movements and oscillates between zero and 100.</a:t>
            </a:r>
          </a:p>
          <a:p>
            <a:pPr algn="l">
              <a:lnSpc>
                <a:spcPts val="3219"/>
              </a:lnSpc>
            </a:pPr>
          </a:p>
          <a:p>
            <a:pPr algn="l">
              <a:lnSpc>
                <a:spcPts val="3219"/>
              </a:lnSpc>
            </a:pPr>
            <a:r>
              <a:rPr lang="en-US" sz="2299">
                <a:solidFill>
                  <a:srgbClr val="FFFFFF"/>
                </a:solidFill>
                <a:latin typeface="TT Hoves"/>
                <a:ea typeface="TT Hoves"/>
                <a:cs typeface="TT Hoves"/>
                <a:sym typeface="TT Hoves"/>
              </a:rPr>
              <a:t>A reading of the RSI above 70 suggests an overbought condition and could be interpreted as a sign that the asset is ripe for a price correction.</a:t>
            </a:r>
          </a:p>
          <a:p>
            <a:pPr algn="l">
              <a:lnSpc>
                <a:spcPts val="3219"/>
              </a:lnSpc>
            </a:pPr>
          </a:p>
          <a:p>
            <a:pPr algn="l">
              <a:lnSpc>
                <a:spcPts val="3219"/>
              </a:lnSpc>
            </a:pPr>
            <a:r>
              <a:rPr lang="en-US" sz="2299">
                <a:solidFill>
                  <a:srgbClr val="FFFFFF"/>
                </a:solidFill>
                <a:latin typeface="TT Hoves"/>
                <a:ea typeface="TT Hoves"/>
                <a:cs typeface="TT Hoves"/>
                <a:sym typeface="TT Hoves"/>
              </a:rPr>
              <a:t>On the other hand, if the RSI falls below 30, this points to an oversold condition, meaning the asset is undervalued and due for a bounce.</a:t>
            </a:r>
          </a:p>
          <a:p>
            <a:pPr algn="l">
              <a:lnSpc>
                <a:spcPts val="3219"/>
              </a:lnSpc>
            </a:pPr>
          </a:p>
          <a:p>
            <a:pPr algn="l">
              <a:lnSpc>
                <a:spcPts val="3219"/>
              </a:lnSpc>
            </a:pPr>
            <a:r>
              <a:rPr lang="en-US" sz="2299">
                <a:solidFill>
                  <a:srgbClr val="FFFFFF"/>
                </a:solidFill>
                <a:latin typeface="TT Hoves"/>
                <a:ea typeface="TT Hoves"/>
                <a:cs typeface="TT Hoves"/>
                <a:sym typeface="TT Hoves"/>
              </a:rPr>
              <a:t>RSI also finds its application in affirming entry signals and preventing a possible fake breakout when applied together with other indicators.</a:t>
            </a:r>
          </a:p>
        </p:txBody>
      </p:sp>
      <p:sp>
        <p:nvSpPr>
          <p:cNvPr name="Freeform 5" id="5"/>
          <p:cNvSpPr/>
          <p:nvPr/>
        </p:nvSpPr>
        <p:spPr>
          <a:xfrm flipH="false" flipV="false" rot="8415822">
            <a:off x="-1820685" y="4818409"/>
            <a:ext cx="7042553" cy="7042553"/>
          </a:xfrm>
          <a:custGeom>
            <a:avLst/>
            <a:gdLst/>
            <a:ahLst/>
            <a:cxnLst/>
            <a:rect r="r" b="b" t="t" l="l"/>
            <a:pathLst>
              <a:path h="7042553" w="7042553">
                <a:moveTo>
                  <a:pt x="0" y="0"/>
                </a:moveTo>
                <a:lnTo>
                  <a:pt x="7042553" y="0"/>
                </a:lnTo>
                <a:lnTo>
                  <a:pt x="7042553" y="7042553"/>
                </a:lnTo>
                <a:lnTo>
                  <a:pt x="0" y="70425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sp>
        <p:nvSpPr>
          <p:cNvPr name="Freeform 2" id="2"/>
          <p:cNvSpPr/>
          <p:nvPr/>
        </p:nvSpPr>
        <p:spPr>
          <a:xfrm flipH="false" flipV="false" rot="0">
            <a:off x="10262809" y="3077848"/>
            <a:ext cx="7324759" cy="5707452"/>
          </a:xfrm>
          <a:custGeom>
            <a:avLst/>
            <a:gdLst/>
            <a:ahLst/>
            <a:cxnLst/>
            <a:rect r="r" b="b" t="t" l="l"/>
            <a:pathLst>
              <a:path h="5707452" w="7324759">
                <a:moveTo>
                  <a:pt x="0" y="0"/>
                </a:moveTo>
                <a:lnTo>
                  <a:pt x="7324759" y="0"/>
                </a:lnTo>
                <a:lnTo>
                  <a:pt x="7324759" y="5707453"/>
                </a:lnTo>
                <a:lnTo>
                  <a:pt x="0" y="57074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2602230"/>
            <a:ext cx="3876645" cy="3537299"/>
            <a:chOff x="0" y="0"/>
            <a:chExt cx="1021009" cy="931634"/>
          </a:xfrm>
        </p:grpSpPr>
        <p:sp>
          <p:nvSpPr>
            <p:cNvPr name="Freeform 4" id="4"/>
            <p:cNvSpPr/>
            <p:nvPr/>
          </p:nvSpPr>
          <p:spPr>
            <a:xfrm flipH="false" flipV="false" rot="0">
              <a:off x="0" y="0"/>
              <a:ext cx="1021009" cy="931634"/>
            </a:xfrm>
            <a:custGeom>
              <a:avLst/>
              <a:gdLst/>
              <a:ahLst/>
              <a:cxnLst/>
              <a:rect r="r" b="b" t="t" l="l"/>
              <a:pathLst>
                <a:path h="931634" w="1021009">
                  <a:moveTo>
                    <a:pt x="101850" y="0"/>
                  </a:moveTo>
                  <a:lnTo>
                    <a:pt x="919159" y="0"/>
                  </a:lnTo>
                  <a:cubicBezTo>
                    <a:pt x="946171" y="0"/>
                    <a:pt x="972077" y="10731"/>
                    <a:pt x="991178" y="29831"/>
                  </a:cubicBezTo>
                  <a:cubicBezTo>
                    <a:pt x="1010279" y="48932"/>
                    <a:pt x="1021009" y="74838"/>
                    <a:pt x="1021009" y="101850"/>
                  </a:cubicBezTo>
                  <a:lnTo>
                    <a:pt x="1021009" y="829784"/>
                  </a:lnTo>
                  <a:cubicBezTo>
                    <a:pt x="1021009" y="856796"/>
                    <a:pt x="1010279" y="882702"/>
                    <a:pt x="991178" y="901803"/>
                  </a:cubicBezTo>
                  <a:cubicBezTo>
                    <a:pt x="972077" y="920904"/>
                    <a:pt x="946171" y="931634"/>
                    <a:pt x="919159" y="931634"/>
                  </a:cubicBezTo>
                  <a:lnTo>
                    <a:pt x="101850" y="931634"/>
                  </a:lnTo>
                  <a:cubicBezTo>
                    <a:pt x="45600" y="931634"/>
                    <a:pt x="0" y="886034"/>
                    <a:pt x="0" y="829784"/>
                  </a:cubicBezTo>
                  <a:lnTo>
                    <a:pt x="0" y="101850"/>
                  </a:lnTo>
                  <a:cubicBezTo>
                    <a:pt x="0" y="45600"/>
                    <a:pt x="45600" y="0"/>
                    <a:pt x="101850" y="0"/>
                  </a:cubicBezTo>
                  <a:close/>
                </a:path>
              </a:pathLst>
            </a:custGeom>
            <a:solidFill>
              <a:srgbClr val="48634D"/>
            </a:solidFill>
          </p:spPr>
        </p:sp>
        <p:sp>
          <p:nvSpPr>
            <p:cNvPr name="TextBox 5" id="5"/>
            <p:cNvSpPr txBox="true"/>
            <p:nvPr/>
          </p:nvSpPr>
          <p:spPr>
            <a:xfrm>
              <a:off x="0" y="-47625"/>
              <a:ext cx="1021009" cy="979259"/>
            </a:xfrm>
            <a:prstGeom prst="rect">
              <a:avLst/>
            </a:prstGeom>
          </p:spPr>
          <p:txBody>
            <a:bodyPr anchor="ctr" rtlCol="false" tIns="50800" lIns="50800" bIns="50800" rIns="50800"/>
            <a:lstStyle/>
            <a:p>
              <a:pPr algn="ctr">
                <a:lnSpc>
                  <a:spcPts val="3359"/>
                </a:lnSpc>
              </a:pPr>
              <a:r>
                <a:rPr lang="en-US" sz="2399" b="true">
                  <a:solidFill>
                    <a:srgbClr val="CFFFBB"/>
                  </a:solidFill>
                  <a:latin typeface="TT Hoves Bold"/>
                  <a:ea typeface="TT Hoves Bold"/>
                  <a:cs typeface="TT Hoves Bold"/>
                  <a:sym typeface="TT Hoves Bold"/>
                </a:rPr>
                <a:t>What are Fibonacci Extensions?</a:t>
              </a:r>
            </a:p>
            <a:p>
              <a:pPr algn="ctr">
                <a:lnSpc>
                  <a:spcPts val="2940"/>
                </a:lnSpc>
              </a:pPr>
              <a:r>
                <a:rPr lang="en-US" sz="2100">
                  <a:solidFill>
                    <a:srgbClr val="FFFFFF"/>
                  </a:solidFill>
                  <a:latin typeface="TT Hoves"/>
                  <a:ea typeface="TT Hoves"/>
                  <a:cs typeface="TT Hoves"/>
                  <a:sym typeface="TT Hoves"/>
                </a:rPr>
                <a:t>Fibonacci Extension Levels can be considered a tool of technical analysis, which helps predict potential targets for a price movement by making use of the Fibonacci sequence.</a:t>
              </a:r>
            </a:p>
            <a:p>
              <a:pPr algn="ctr">
                <a:lnSpc>
                  <a:spcPts val="2940"/>
                </a:lnSpc>
              </a:pPr>
            </a:p>
          </p:txBody>
        </p:sp>
      </p:grpSp>
      <p:sp>
        <p:nvSpPr>
          <p:cNvPr name="TextBox 6" id="6"/>
          <p:cNvSpPr txBox="true"/>
          <p:nvPr/>
        </p:nvSpPr>
        <p:spPr>
          <a:xfrm rot="0">
            <a:off x="1028700" y="942975"/>
            <a:ext cx="10263591" cy="1659255"/>
          </a:xfrm>
          <a:prstGeom prst="rect">
            <a:avLst/>
          </a:prstGeom>
        </p:spPr>
        <p:txBody>
          <a:bodyPr anchor="t" rtlCol="false" tIns="0" lIns="0" bIns="0" rIns="0">
            <a:spAutoFit/>
          </a:bodyPr>
          <a:lstStyle/>
          <a:p>
            <a:pPr algn="l">
              <a:lnSpc>
                <a:spcPts val="6719"/>
              </a:lnSpc>
            </a:pPr>
            <a:r>
              <a:rPr lang="en-US" sz="4800">
                <a:solidFill>
                  <a:srgbClr val="B8F5A0"/>
                </a:solidFill>
                <a:latin typeface="TT Hoves"/>
                <a:ea typeface="TT Hoves"/>
                <a:cs typeface="TT Hoves"/>
                <a:sym typeface="TT Hoves"/>
              </a:rPr>
              <a:t>Fibonacci Extensions for Target Levels</a:t>
            </a:r>
          </a:p>
          <a:p>
            <a:pPr algn="l">
              <a:lnSpc>
                <a:spcPts val="6719"/>
              </a:lnSpc>
            </a:pPr>
          </a:p>
        </p:txBody>
      </p:sp>
      <p:grpSp>
        <p:nvGrpSpPr>
          <p:cNvPr name="Group 7" id="7"/>
          <p:cNvGrpSpPr/>
          <p:nvPr/>
        </p:nvGrpSpPr>
        <p:grpSpPr>
          <a:xfrm rot="0">
            <a:off x="1028700" y="6522821"/>
            <a:ext cx="8238169" cy="2735479"/>
            <a:chOff x="0" y="0"/>
            <a:chExt cx="2169724" cy="720455"/>
          </a:xfrm>
        </p:grpSpPr>
        <p:sp>
          <p:nvSpPr>
            <p:cNvPr name="Freeform 8" id="8"/>
            <p:cNvSpPr/>
            <p:nvPr/>
          </p:nvSpPr>
          <p:spPr>
            <a:xfrm flipH="false" flipV="false" rot="0">
              <a:off x="0" y="0"/>
              <a:ext cx="2169724" cy="720455"/>
            </a:xfrm>
            <a:custGeom>
              <a:avLst/>
              <a:gdLst/>
              <a:ahLst/>
              <a:cxnLst/>
              <a:rect r="r" b="b" t="t" l="l"/>
              <a:pathLst>
                <a:path h="720455" w="2169724">
                  <a:moveTo>
                    <a:pt x="47928" y="0"/>
                  </a:moveTo>
                  <a:lnTo>
                    <a:pt x="2121796" y="0"/>
                  </a:lnTo>
                  <a:cubicBezTo>
                    <a:pt x="2134507" y="0"/>
                    <a:pt x="2146698" y="5050"/>
                    <a:pt x="2155686" y="14038"/>
                  </a:cubicBezTo>
                  <a:cubicBezTo>
                    <a:pt x="2164674" y="23026"/>
                    <a:pt x="2169724" y="35217"/>
                    <a:pt x="2169724" y="47928"/>
                  </a:cubicBezTo>
                  <a:lnTo>
                    <a:pt x="2169724" y="672527"/>
                  </a:lnTo>
                  <a:cubicBezTo>
                    <a:pt x="2169724" y="685239"/>
                    <a:pt x="2164674" y="697429"/>
                    <a:pt x="2155686" y="706418"/>
                  </a:cubicBezTo>
                  <a:cubicBezTo>
                    <a:pt x="2146698" y="715406"/>
                    <a:pt x="2134507" y="720455"/>
                    <a:pt x="2121796" y="720455"/>
                  </a:cubicBezTo>
                  <a:lnTo>
                    <a:pt x="47928" y="720455"/>
                  </a:lnTo>
                  <a:cubicBezTo>
                    <a:pt x="35217" y="720455"/>
                    <a:pt x="23026" y="715406"/>
                    <a:pt x="14038" y="706418"/>
                  </a:cubicBezTo>
                  <a:cubicBezTo>
                    <a:pt x="5050" y="697429"/>
                    <a:pt x="0" y="685239"/>
                    <a:pt x="0" y="672527"/>
                  </a:cubicBezTo>
                  <a:lnTo>
                    <a:pt x="0" y="47928"/>
                  </a:lnTo>
                  <a:cubicBezTo>
                    <a:pt x="0" y="35217"/>
                    <a:pt x="5050" y="23026"/>
                    <a:pt x="14038" y="14038"/>
                  </a:cubicBezTo>
                  <a:cubicBezTo>
                    <a:pt x="23026" y="5050"/>
                    <a:pt x="35217" y="0"/>
                    <a:pt x="47928" y="0"/>
                  </a:cubicBezTo>
                  <a:close/>
                </a:path>
              </a:pathLst>
            </a:custGeom>
            <a:solidFill>
              <a:srgbClr val="48634D"/>
            </a:solidFill>
          </p:spPr>
        </p:sp>
        <p:sp>
          <p:nvSpPr>
            <p:cNvPr name="TextBox 9" id="9"/>
            <p:cNvSpPr txBox="true"/>
            <p:nvPr/>
          </p:nvSpPr>
          <p:spPr>
            <a:xfrm>
              <a:off x="0" y="-47625"/>
              <a:ext cx="2169724" cy="768080"/>
            </a:xfrm>
            <a:prstGeom prst="rect">
              <a:avLst/>
            </a:prstGeom>
          </p:spPr>
          <p:txBody>
            <a:bodyPr anchor="ctr" rtlCol="false" tIns="50800" lIns="50800" bIns="50800" rIns="50800"/>
            <a:lstStyle/>
            <a:p>
              <a:pPr algn="ctr">
                <a:lnSpc>
                  <a:spcPts val="3359"/>
                </a:lnSpc>
              </a:pPr>
              <a:r>
                <a:rPr lang="en-US" sz="2399" b="true">
                  <a:solidFill>
                    <a:srgbClr val="CFFFBB"/>
                  </a:solidFill>
                  <a:latin typeface="TT Hoves Bold"/>
                  <a:ea typeface="TT Hoves Bold"/>
                  <a:cs typeface="TT Hoves Bold"/>
                  <a:sym typeface="TT Hoves Bold"/>
                </a:rPr>
                <a:t>Strategic Application </a:t>
              </a:r>
            </a:p>
            <a:p>
              <a:pPr algn="ctr">
                <a:lnSpc>
                  <a:spcPts val="3359"/>
                </a:lnSpc>
              </a:pPr>
            </a:p>
            <a:p>
              <a:pPr algn="ctr">
                <a:lnSpc>
                  <a:spcPts val="2940"/>
                </a:lnSpc>
              </a:pPr>
              <a:r>
                <a:rPr lang="en-US" sz="2100">
                  <a:solidFill>
                    <a:srgbClr val="FFFFFF"/>
                  </a:solidFill>
                  <a:latin typeface="TT Hoves"/>
                  <a:ea typeface="TT Hoves"/>
                  <a:cs typeface="TT Hoves"/>
                  <a:sym typeface="TT Hoves"/>
                </a:rPr>
                <a:t>These extensions are utilized by traders to determine profit targets after the asset price has broken through its former high or low, particularly after a evident retracement.</a:t>
              </a:r>
            </a:p>
          </p:txBody>
        </p:sp>
      </p:grpSp>
      <p:grpSp>
        <p:nvGrpSpPr>
          <p:cNvPr name="Group 10" id="10"/>
          <p:cNvGrpSpPr/>
          <p:nvPr/>
        </p:nvGrpSpPr>
        <p:grpSpPr>
          <a:xfrm rot="0">
            <a:off x="5390224" y="2602230"/>
            <a:ext cx="3876645" cy="3489674"/>
            <a:chOff x="0" y="0"/>
            <a:chExt cx="1021009" cy="919091"/>
          </a:xfrm>
        </p:grpSpPr>
        <p:sp>
          <p:nvSpPr>
            <p:cNvPr name="Freeform 11" id="11"/>
            <p:cNvSpPr/>
            <p:nvPr/>
          </p:nvSpPr>
          <p:spPr>
            <a:xfrm flipH="false" flipV="false" rot="0">
              <a:off x="0" y="0"/>
              <a:ext cx="1021009" cy="919091"/>
            </a:xfrm>
            <a:custGeom>
              <a:avLst/>
              <a:gdLst/>
              <a:ahLst/>
              <a:cxnLst/>
              <a:rect r="r" b="b" t="t" l="l"/>
              <a:pathLst>
                <a:path h="919091" w="1021009">
                  <a:moveTo>
                    <a:pt x="101850" y="0"/>
                  </a:moveTo>
                  <a:lnTo>
                    <a:pt x="919159" y="0"/>
                  </a:lnTo>
                  <a:cubicBezTo>
                    <a:pt x="946171" y="0"/>
                    <a:pt x="972077" y="10731"/>
                    <a:pt x="991178" y="29831"/>
                  </a:cubicBezTo>
                  <a:cubicBezTo>
                    <a:pt x="1010279" y="48932"/>
                    <a:pt x="1021009" y="74838"/>
                    <a:pt x="1021009" y="101850"/>
                  </a:cubicBezTo>
                  <a:lnTo>
                    <a:pt x="1021009" y="817241"/>
                  </a:lnTo>
                  <a:cubicBezTo>
                    <a:pt x="1021009" y="844253"/>
                    <a:pt x="1010279" y="870159"/>
                    <a:pt x="991178" y="889260"/>
                  </a:cubicBezTo>
                  <a:cubicBezTo>
                    <a:pt x="972077" y="908361"/>
                    <a:pt x="946171" y="919091"/>
                    <a:pt x="919159" y="919091"/>
                  </a:cubicBezTo>
                  <a:lnTo>
                    <a:pt x="101850" y="919091"/>
                  </a:lnTo>
                  <a:cubicBezTo>
                    <a:pt x="45600" y="919091"/>
                    <a:pt x="0" y="873491"/>
                    <a:pt x="0" y="817241"/>
                  </a:cubicBezTo>
                  <a:lnTo>
                    <a:pt x="0" y="101850"/>
                  </a:lnTo>
                  <a:cubicBezTo>
                    <a:pt x="0" y="45600"/>
                    <a:pt x="45600" y="0"/>
                    <a:pt x="101850" y="0"/>
                  </a:cubicBezTo>
                  <a:close/>
                </a:path>
              </a:pathLst>
            </a:custGeom>
            <a:solidFill>
              <a:srgbClr val="48634D"/>
            </a:solidFill>
          </p:spPr>
        </p:sp>
        <p:sp>
          <p:nvSpPr>
            <p:cNvPr name="TextBox 12" id="12"/>
            <p:cNvSpPr txBox="true"/>
            <p:nvPr/>
          </p:nvSpPr>
          <p:spPr>
            <a:xfrm>
              <a:off x="0" y="-47625"/>
              <a:ext cx="1021009" cy="966716"/>
            </a:xfrm>
            <a:prstGeom prst="rect">
              <a:avLst/>
            </a:prstGeom>
          </p:spPr>
          <p:txBody>
            <a:bodyPr anchor="ctr" rtlCol="false" tIns="50800" lIns="50800" bIns="50800" rIns="50800"/>
            <a:lstStyle/>
            <a:p>
              <a:pPr algn="ctr">
                <a:lnSpc>
                  <a:spcPts val="3359"/>
                </a:lnSpc>
              </a:pPr>
              <a:r>
                <a:rPr lang="en-US" sz="2399" b="true">
                  <a:solidFill>
                    <a:srgbClr val="CFFFBB"/>
                  </a:solidFill>
                  <a:latin typeface="TT Hoves Bold"/>
                  <a:ea typeface="TT Hoves Bold"/>
                  <a:cs typeface="TT Hoves Bold"/>
                  <a:sym typeface="TT Hoves Bold"/>
                </a:rPr>
                <a:t>Key Levels</a:t>
              </a:r>
            </a:p>
            <a:p>
              <a:pPr algn="ctr">
                <a:lnSpc>
                  <a:spcPts val="2940"/>
                </a:lnSpc>
              </a:pPr>
            </a:p>
            <a:p>
              <a:pPr algn="ctr">
                <a:lnSpc>
                  <a:spcPts val="2940"/>
                </a:lnSpc>
              </a:pPr>
              <a:r>
                <a:rPr lang="en-US" sz="2100">
                  <a:solidFill>
                    <a:srgbClr val="FFFFFF"/>
                  </a:solidFill>
                  <a:latin typeface="TT Hoves"/>
                  <a:ea typeface="TT Hoves"/>
                  <a:cs typeface="TT Hoves"/>
                  <a:sym typeface="TT Hoves"/>
                </a:rPr>
                <a:t>Th</a:t>
              </a:r>
              <a:r>
                <a:rPr lang="en-US" sz="2100">
                  <a:solidFill>
                    <a:srgbClr val="FFFFFF"/>
                  </a:solidFill>
                  <a:latin typeface="TT Hoves"/>
                  <a:ea typeface="TT Hoves"/>
                  <a:cs typeface="TT Hoves"/>
                  <a:sym typeface="TT Hoves"/>
                </a:rPr>
                <a:t>e levels that can be employed in the Fibonacci ratio calculation may include 1.272,</a:t>
              </a:r>
            </a:p>
            <a:p>
              <a:pPr algn="ctr">
                <a:lnSpc>
                  <a:spcPts val="2940"/>
                </a:lnSpc>
              </a:pPr>
              <a:r>
                <a:rPr lang="en-US" sz="2100">
                  <a:solidFill>
                    <a:srgbClr val="FFFFFF"/>
                  </a:solidFill>
                  <a:latin typeface="TT Hoves"/>
                  <a:ea typeface="TT Hoves"/>
                  <a:cs typeface="TT Hoves"/>
                  <a:sym typeface="TT Hoves"/>
                </a:rPr>
                <a:t>These levels are based on mathematical relationships existing within the Fibonacci sequence.</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sp>
        <p:nvSpPr>
          <p:cNvPr name="Freeform 2" id="2"/>
          <p:cNvSpPr/>
          <p:nvPr/>
        </p:nvSpPr>
        <p:spPr>
          <a:xfrm flipH="false" flipV="false" rot="0">
            <a:off x="733496" y="1790073"/>
            <a:ext cx="12617016" cy="8142745"/>
          </a:xfrm>
          <a:custGeom>
            <a:avLst/>
            <a:gdLst/>
            <a:ahLst/>
            <a:cxnLst/>
            <a:rect r="r" b="b" t="t" l="l"/>
            <a:pathLst>
              <a:path h="8142745" w="12617016">
                <a:moveTo>
                  <a:pt x="0" y="0"/>
                </a:moveTo>
                <a:lnTo>
                  <a:pt x="12617016" y="0"/>
                </a:lnTo>
                <a:lnTo>
                  <a:pt x="12617016" y="8142745"/>
                </a:lnTo>
                <a:lnTo>
                  <a:pt x="0" y="8142745"/>
                </a:lnTo>
                <a:lnTo>
                  <a:pt x="0" y="0"/>
                </a:lnTo>
                <a:close/>
              </a:path>
            </a:pathLst>
          </a:custGeom>
          <a:blipFill>
            <a:blip r:embed="rId2"/>
            <a:stretch>
              <a:fillRect l="-5432" t="0" r="-4888" b="0"/>
            </a:stretch>
          </a:blipFill>
        </p:spPr>
      </p:sp>
      <p:grpSp>
        <p:nvGrpSpPr>
          <p:cNvPr name="Group 3" id="3"/>
          <p:cNvGrpSpPr/>
          <p:nvPr/>
        </p:nvGrpSpPr>
        <p:grpSpPr>
          <a:xfrm rot="0">
            <a:off x="13906412" y="7936484"/>
            <a:ext cx="3921279" cy="1996334"/>
            <a:chOff x="0" y="0"/>
            <a:chExt cx="1032765" cy="525783"/>
          </a:xfrm>
        </p:grpSpPr>
        <p:sp>
          <p:nvSpPr>
            <p:cNvPr name="Freeform 4" id="4"/>
            <p:cNvSpPr/>
            <p:nvPr/>
          </p:nvSpPr>
          <p:spPr>
            <a:xfrm flipH="false" flipV="false" rot="0">
              <a:off x="0" y="0"/>
              <a:ext cx="1032765" cy="525783"/>
            </a:xfrm>
            <a:custGeom>
              <a:avLst/>
              <a:gdLst/>
              <a:ahLst/>
              <a:cxnLst/>
              <a:rect r="r" b="b" t="t" l="l"/>
              <a:pathLst>
                <a:path h="525783" w="1032765">
                  <a:moveTo>
                    <a:pt x="100691" y="0"/>
                  </a:moveTo>
                  <a:lnTo>
                    <a:pt x="932074" y="0"/>
                  </a:lnTo>
                  <a:cubicBezTo>
                    <a:pt x="958779" y="0"/>
                    <a:pt x="984390" y="10608"/>
                    <a:pt x="1003273" y="29492"/>
                  </a:cubicBezTo>
                  <a:cubicBezTo>
                    <a:pt x="1022156" y="48375"/>
                    <a:pt x="1032765" y="73986"/>
                    <a:pt x="1032765" y="100691"/>
                  </a:cubicBezTo>
                  <a:lnTo>
                    <a:pt x="1032765" y="425092"/>
                  </a:lnTo>
                  <a:cubicBezTo>
                    <a:pt x="1032765" y="480702"/>
                    <a:pt x="987684" y="525783"/>
                    <a:pt x="932074" y="525783"/>
                  </a:cubicBezTo>
                  <a:lnTo>
                    <a:pt x="100691" y="525783"/>
                  </a:lnTo>
                  <a:cubicBezTo>
                    <a:pt x="73986" y="525783"/>
                    <a:pt x="48375" y="515175"/>
                    <a:pt x="29492" y="496292"/>
                  </a:cubicBezTo>
                  <a:cubicBezTo>
                    <a:pt x="10608" y="477408"/>
                    <a:pt x="0" y="451797"/>
                    <a:pt x="0" y="425092"/>
                  </a:cubicBezTo>
                  <a:lnTo>
                    <a:pt x="0" y="100691"/>
                  </a:lnTo>
                  <a:cubicBezTo>
                    <a:pt x="0" y="73986"/>
                    <a:pt x="10608" y="48375"/>
                    <a:pt x="29492" y="29492"/>
                  </a:cubicBezTo>
                  <a:cubicBezTo>
                    <a:pt x="48375" y="10608"/>
                    <a:pt x="73986" y="0"/>
                    <a:pt x="100691" y="0"/>
                  </a:cubicBezTo>
                  <a:close/>
                </a:path>
              </a:pathLst>
            </a:custGeom>
            <a:solidFill>
              <a:srgbClr val="285141"/>
            </a:solidFill>
          </p:spPr>
        </p:sp>
        <p:sp>
          <p:nvSpPr>
            <p:cNvPr name="TextBox 5" id="5"/>
            <p:cNvSpPr txBox="true"/>
            <p:nvPr/>
          </p:nvSpPr>
          <p:spPr>
            <a:xfrm>
              <a:off x="0" y="-47625"/>
              <a:ext cx="1032765" cy="573408"/>
            </a:xfrm>
            <a:prstGeom prst="rect">
              <a:avLst/>
            </a:prstGeom>
          </p:spPr>
          <p:txBody>
            <a:bodyPr anchor="ctr" rtlCol="false" tIns="50800" lIns="50800" bIns="50800" rIns="50800"/>
            <a:lstStyle/>
            <a:p>
              <a:pPr algn="ctr">
                <a:lnSpc>
                  <a:spcPts val="2940"/>
                </a:lnSpc>
              </a:pPr>
              <a:r>
                <a:rPr lang="en-US" sz="2100">
                  <a:solidFill>
                    <a:srgbClr val="CFFFBB"/>
                  </a:solidFill>
                  <a:latin typeface="TT Hoves"/>
                  <a:ea typeface="TT Hoves"/>
                  <a:cs typeface="TT Hoves"/>
                  <a:sym typeface="TT Hoves"/>
                </a:rPr>
                <a:t>Tools like fibonacci bollinger band, RSI and magic band were applied to determine the marks.</a:t>
              </a:r>
            </a:p>
          </p:txBody>
        </p:sp>
      </p:grpSp>
      <p:sp>
        <p:nvSpPr>
          <p:cNvPr name="TextBox 6" id="6"/>
          <p:cNvSpPr txBox="true"/>
          <p:nvPr/>
        </p:nvSpPr>
        <p:spPr>
          <a:xfrm rot="0">
            <a:off x="733496" y="580072"/>
            <a:ext cx="14166172" cy="811530"/>
          </a:xfrm>
          <a:prstGeom prst="rect">
            <a:avLst/>
          </a:prstGeom>
        </p:spPr>
        <p:txBody>
          <a:bodyPr anchor="t" rtlCol="false" tIns="0" lIns="0" bIns="0" rIns="0">
            <a:spAutoFit/>
          </a:bodyPr>
          <a:lstStyle/>
          <a:p>
            <a:pPr algn="l">
              <a:lnSpc>
                <a:spcPts val="6719"/>
              </a:lnSpc>
            </a:pPr>
            <a:r>
              <a:rPr lang="en-US" sz="4800" b="true">
                <a:solidFill>
                  <a:srgbClr val="75FF82"/>
                </a:solidFill>
                <a:latin typeface="TT Hoves Bold"/>
                <a:ea typeface="TT Hoves Bold"/>
                <a:cs typeface="TT Hoves Bold"/>
                <a:sym typeface="TT Hoves Bold"/>
              </a:rPr>
              <a:t>STOCK 1 : RELIANCE INDUSTRIES LTD.</a:t>
            </a:r>
          </a:p>
        </p:txBody>
      </p:sp>
      <p:sp>
        <p:nvSpPr>
          <p:cNvPr name="TextBox 7" id="7"/>
          <p:cNvSpPr txBox="true"/>
          <p:nvPr/>
        </p:nvSpPr>
        <p:spPr>
          <a:xfrm rot="0">
            <a:off x="6047880" y="2837384"/>
            <a:ext cx="2856232" cy="365760"/>
          </a:xfrm>
          <a:prstGeom prst="rect">
            <a:avLst/>
          </a:prstGeom>
        </p:spPr>
        <p:txBody>
          <a:bodyPr anchor="t" rtlCol="false" tIns="0" lIns="0" bIns="0" rIns="0">
            <a:spAutoFit/>
          </a:bodyPr>
          <a:lstStyle/>
          <a:p>
            <a:pPr algn="l">
              <a:lnSpc>
                <a:spcPts val="2940"/>
              </a:lnSpc>
            </a:pPr>
            <a:r>
              <a:rPr lang="en-US" sz="2100">
                <a:solidFill>
                  <a:srgbClr val="75FF82"/>
                </a:solidFill>
                <a:latin typeface="TT Hoves"/>
                <a:ea typeface="TT Hoves"/>
                <a:cs typeface="TT Hoves"/>
                <a:sym typeface="TT Hoves"/>
              </a:rPr>
              <a:t>To Avoid Debt:</a:t>
            </a:r>
          </a:p>
        </p:txBody>
      </p:sp>
      <p:sp>
        <p:nvSpPr>
          <p:cNvPr name="TextBox 8" id="8"/>
          <p:cNvSpPr txBox="true"/>
          <p:nvPr/>
        </p:nvSpPr>
        <p:spPr>
          <a:xfrm rot="0">
            <a:off x="13836759" y="1353502"/>
            <a:ext cx="4067375" cy="1709506"/>
          </a:xfrm>
          <a:prstGeom prst="rect">
            <a:avLst/>
          </a:prstGeom>
        </p:spPr>
        <p:txBody>
          <a:bodyPr anchor="t" rtlCol="false" tIns="0" lIns="0" bIns="0" rIns="0">
            <a:spAutoFit/>
          </a:bodyPr>
          <a:lstStyle/>
          <a:p>
            <a:pPr algn="ctr">
              <a:lnSpc>
                <a:spcPts val="3263"/>
              </a:lnSpc>
            </a:pPr>
            <a:r>
              <a:rPr lang="en-US" sz="2331" b="true">
                <a:solidFill>
                  <a:srgbClr val="75FF82"/>
                </a:solidFill>
                <a:latin typeface="TT Hoves Bold"/>
                <a:ea typeface="TT Hoves Bold"/>
                <a:cs typeface="TT Hoves Bold"/>
                <a:sym typeface="TT Hoves Bold"/>
              </a:rPr>
              <a:t>Entry ?</a:t>
            </a:r>
          </a:p>
          <a:p>
            <a:pPr algn="ctr">
              <a:lnSpc>
                <a:spcPts val="2836"/>
              </a:lnSpc>
            </a:pPr>
          </a:p>
          <a:p>
            <a:pPr algn="ctr">
              <a:lnSpc>
                <a:spcPts val="2530"/>
              </a:lnSpc>
              <a:spcBef>
                <a:spcPct val="0"/>
              </a:spcBef>
            </a:pPr>
            <a:r>
              <a:rPr lang="en-US" sz="1807">
                <a:solidFill>
                  <a:srgbClr val="CFFFBB"/>
                </a:solidFill>
                <a:latin typeface="TT Hoves"/>
                <a:ea typeface="TT Hoves"/>
                <a:cs typeface="TT Hoves"/>
                <a:sym typeface="TT Hoves"/>
              </a:rPr>
              <a:t>Entry was taken when the price moved above the Magic Band support with RSI confirming bullish momentum</a:t>
            </a:r>
          </a:p>
        </p:txBody>
      </p:sp>
      <p:sp>
        <p:nvSpPr>
          <p:cNvPr name="TextBox 9" id="9"/>
          <p:cNvSpPr txBox="true"/>
          <p:nvPr/>
        </p:nvSpPr>
        <p:spPr>
          <a:xfrm rot="0">
            <a:off x="13906412" y="3515360"/>
            <a:ext cx="3928071" cy="1628140"/>
          </a:xfrm>
          <a:prstGeom prst="rect">
            <a:avLst/>
          </a:prstGeom>
        </p:spPr>
        <p:txBody>
          <a:bodyPr anchor="t" rtlCol="false" tIns="0" lIns="0" bIns="0" rIns="0">
            <a:spAutoFit/>
          </a:bodyPr>
          <a:lstStyle/>
          <a:p>
            <a:pPr algn="ctr">
              <a:lnSpc>
                <a:spcPts val="2940"/>
              </a:lnSpc>
            </a:pPr>
            <a:r>
              <a:rPr lang="en-US" sz="2100" b="true">
                <a:solidFill>
                  <a:srgbClr val="75FF82"/>
                </a:solidFill>
                <a:latin typeface="TT Hoves Bold"/>
                <a:ea typeface="TT Hoves Bold"/>
                <a:cs typeface="TT Hoves Bold"/>
                <a:sym typeface="TT Hoves Bold"/>
              </a:rPr>
              <a:t>Exit?</a:t>
            </a:r>
          </a:p>
          <a:p>
            <a:pPr algn="ctr">
              <a:lnSpc>
                <a:spcPts val="2940"/>
              </a:lnSpc>
            </a:pPr>
          </a:p>
          <a:p>
            <a:pPr algn="ctr">
              <a:lnSpc>
                <a:spcPts val="2380"/>
              </a:lnSpc>
              <a:spcBef>
                <a:spcPct val="0"/>
              </a:spcBef>
            </a:pPr>
            <a:r>
              <a:rPr lang="en-US" sz="1700">
                <a:solidFill>
                  <a:srgbClr val="B8F5A0"/>
                </a:solidFill>
                <a:latin typeface="TT Hoves"/>
                <a:ea typeface="TT Hoves"/>
                <a:cs typeface="TT Hoves"/>
                <a:sym typeface="TT Hoves"/>
              </a:rPr>
              <a:t>Exit was planned near the upper Magic Band and Fibonacci extension level to book profits after trend exhaustion.</a:t>
            </a:r>
          </a:p>
        </p:txBody>
      </p:sp>
      <p:sp>
        <p:nvSpPr>
          <p:cNvPr name="TextBox 10" id="10"/>
          <p:cNvSpPr txBox="true"/>
          <p:nvPr/>
        </p:nvSpPr>
        <p:spPr>
          <a:xfrm rot="0">
            <a:off x="14044788" y="5813820"/>
            <a:ext cx="3651319" cy="1628140"/>
          </a:xfrm>
          <a:prstGeom prst="rect">
            <a:avLst/>
          </a:prstGeom>
        </p:spPr>
        <p:txBody>
          <a:bodyPr anchor="t" rtlCol="false" tIns="0" lIns="0" bIns="0" rIns="0">
            <a:spAutoFit/>
          </a:bodyPr>
          <a:lstStyle/>
          <a:p>
            <a:pPr algn="ctr">
              <a:lnSpc>
                <a:spcPts val="2940"/>
              </a:lnSpc>
            </a:pPr>
            <a:r>
              <a:rPr lang="en-US" sz="2100" b="true">
                <a:solidFill>
                  <a:srgbClr val="75FF82"/>
                </a:solidFill>
                <a:latin typeface="TT Hoves Bold"/>
                <a:ea typeface="TT Hoves Bold"/>
                <a:cs typeface="TT Hoves Bold"/>
                <a:sym typeface="TT Hoves Bold"/>
              </a:rPr>
              <a:t>Stop Loss?</a:t>
            </a:r>
          </a:p>
          <a:p>
            <a:pPr algn="ctr">
              <a:lnSpc>
                <a:spcPts val="2940"/>
              </a:lnSpc>
            </a:pPr>
          </a:p>
          <a:p>
            <a:pPr algn="ctr">
              <a:lnSpc>
                <a:spcPts val="2380"/>
              </a:lnSpc>
              <a:spcBef>
                <a:spcPct val="0"/>
              </a:spcBef>
            </a:pPr>
            <a:r>
              <a:rPr lang="en-US" sz="1700">
                <a:solidFill>
                  <a:srgbClr val="B8F5A0"/>
                </a:solidFill>
                <a:latin typeface="TT Hoves"/>
                <a:ea typeface="TT Hoves"/>
                <a:cs typeface="TT Hoves"/>
                <a:sym typeface="TT Hoves"/>
              </a:rPr>
              <a:t>Stop loss was placed below the recent swing low and key support level to limit downside risk.</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grpSp>
        <p:nvGrpSpPr>
          <p:cNvPr name="Group 2" id="2"/>
          <p:cNvGrpSpPr/>
          <p:nvPr/>
        </p:nvGrpSpPr>
        <p:grpSpPr>
          <a:xfrm rot="0">
            <a:off x="13906412" y="7936484"/>
            <a:ext cx="3921279" cy="1996334"/>
            <a:chOff x="0" y="0"/>
            <a:chExt cx="1032765" cy="525783"/>
          </a:xfrm>
        </p:grpSpPr>
        <p:sp>
          <p:nvSpPr>
            <p:cNvPr name="Freeform 3" id="3"/>
            <p:cNvSpPr/>
            <p:nvPr/>
          </p:nvSpPr>
          <p:spPr>
            <a:xfrm flipH="false" flipV="false" rot="0">
              <a:off x="0" y="0"/>
              <a:ext cx="1032765" cy="525783"/>
            </a:xfrm>
            <a:custGeom>
              <a:avLst/>
              <a:gdLst/>
              <a:ahLst/>
              <a:cxnLst/>
              <a:rect r="r" b="b" t="t" l="l"/>
              <a:pathLst>
                <a:path h="525783" w="1032765">
                  <a:moveTo>
                    <a:pt x="100691" y="0"/>
                  </a:moveTo>
                  <a:lnTo>
                    <a:pt x="932074" y="0"/>
                  </a:lnTo>
                  <a:cubicBezTo>
                    <a:pt x="958779" y="0"/>
                    <a:pt x="984390" y="10608"/>
                    <a:pt x="1003273" y="29492"/>
                  </a:cubicBezTo>
                  <a:cubicBezTo>
                    <a:pt x="1022156" y="48375"/>
                    <a:pt x="1032765" y="73986"/>
                    <a:pt x="1032765" y="100691"/>
                  </a:cubicBezTo>
                  <a:lnTo>
                    <a:pt x="1032765" y="425092"/>
                  </a:lnTo>
                  <a:cubicBezTo>
                    <a:pt x="1032765" y="480702"/>
                    <a:pt x="987684" y="525783"/>
                    <a:pt x="932074" y="525783"/>
                  </a:cubicBezTo>
                  <a:lnTo>
                    <a:pt x="100691" y="525783"/>
                  </a:lnTo>
                  <a:cubicBezTo>
                    <a:pt x="73986" y="525783"/>
                    <a:pt x="48375" y="515175"/>
                    <a:pt x="29492" y="496292"/>
                  </a:cubicBezTo>
                  <a:cubicBezTo>
                    <a:pt x="10608" y="477408"/>
                    <a:pt x="0" y="451797"/>
                    <a:pt x="0" y="425092"/>
                  </a:cubicBezTo>
                  <a:lnTo>
                    <a:pt x="0" y="100691"/>
                  </a:lnTo>
                  <a:cubicBezTo>
                    <a:pt x="0" y="73986"/>
                    <a:pt x="10608" y="48375"/>
                    <a:pt x="29492" y="29492"/>
                  </a:cubicBezTo>
                  <a:cubicBezTo>
                    <a:pt x="48375" y="10608"/>
                    <a:pt x="73986" y="0"/>
                    <a:pt x="100691" y="0"/>
                  </a:cubicBezTo>
                  <a:close/>
                </a:path>
              </a:pathLst>
            </a:custGeom>
            <a:solidFill>
              <a:srgbClr val="285141"/>
            </a:solidFill>
          </p:spPr>
        </p:sp>
        <p:sp>
          <p:nvSpPr>
            <p:cNvPr name="TextBox 4" id="4"/>
            <p:cNvSpPr txBox="true"/>
            <p:nvPr/>
          </p:nvSpPr>
          <p:spPr>
            <a:xfrm>
              <a:off x="0" y="-47625"/>
              <a:ext cx="1032765" cy="573408"/>
            </a:xfrm>
            <a:prstGeom prst="rect">
              <a:avLst/>
            </a:prstGeom>
          </p:spPr>
          <p:txBody>
            <a:bodyPr anchor="ctr" rtlCol="false" tIns="50800" lIns="50800" bIns="50800" rIns="50800"/>
            <a:lstStyle/>
            <a:p>
              <a:pPr algn="ctr">
                <a:lnSpc>
                  <a:spcPts val="2940"/>
                </a:lnSpc>
              </a:pPr>
              <a:r>
                <a:rPr lang="en-US" sz="2100">
                  <a:solidFill>
                    <a:srgbClr val="CFFFBB"/>
                  </a:solidFill>
                  <a:latin typeface="TT Hoves"/>
                  <a:ea typeface="TT Hoves"/>
                  <a:cs typeface="TT Hoves"/>
                  <a:sym typeface="TT Hoves"/>
                </a:rPr>
                <a:t>Tools like fibonacci bollinger band, RSI and magic band were applied to determine the marks.</a:t>
              </a:r>
            </a:p>
          </p:txBody>
        </p:sp>
      </p:grpSp>
      <p:sp>
        <p:nvSpPr>
          <p:cNvPr name="Freeform 5" id="5"/>
          <p:cNvSpPr/>
          <p:nvPr/>
        </p:nvSpPr>
        <p:spPr>
          <a:xfrm flipH="false" flipV="false" rot="0">
            <a:off x="733496" y="1692163"/>
            <a:ext cx="12716930" cy="7750790"/>
          </a:xfrm>
          <a:custGeom>
            <a:avLst/>
            <a:gdLst/>
            <a:ahLst/>
            <a:cxnLst/>
            <a:rect r="r" b="b" t="t" l="l"/>
            <a:pathLst>
              <a:path h="7750790" w="12716930">
                <a:moveTo>
                  <a:pt x="0" y="0"/>
                </a:moveTo>
                <a:lnTo>
                  <a:pt x="12716930" y="0"/>
                </a:lnTo>
                <a:lnTo>
                  <a:pt x="12716930" y="7750790"/>
                </a:lnTo>
                <a:lnTo>
                  <a:pt x="0" y="7750790"/>
                </a:lnTo>
                <a:lnTo>
                  <a:pt x="0" y="0"/>
                </a:lnTo>
                <a:close/>
              </a:path>
            </a:pathLst>
          </a:custGeom>
          <a:blipFill>
            <a:blip r:embed="rId2"/>
            <a:stretch>
              <a:fillRect l="-13441" t="-2097" r="-5368" b="0"/>
            </a:stretch>
          </a:blipFill>
        </p:spPr>
      </p:sp>
      <p:sp>
        <p:nvSpPr>
          <p:cNvPr name="TextBox 6" id="6"/>
          <p:cNvSpPr txBox="true"/>
          <p:nvPr/>
        </p:nvSpPr>
        <p:spPr>
          <a:xfrm rot="0">
            <a:off x="733496" y="616593"/>
            <a:ext cx="14166172" cy="811530"/>
          </a:xfrm>
          <a:prstGeom prst="rect">
            <a:avLst/>
          </a:prstGeom>
        </p:spPr>
        <p:txBody>
          <a:bodyPr anchor="t" rtlCol="false" tIns="0" lIns="0" bIns="0" rIns="0">
            <a:spAutoFit/>
          </a:bodyPr>
          <a:lstStyle/>
          <a:p>
            <a:pPr algn="l">
              <a:lnSpc>
                <a:spcPts val="6719"/>
              </a:lnSpc>
            </a:pPr>
            <a:r>
              <a:rPr lang="en-US" sz="4800" b="true">
                <a:solidFill>
                  <a:srgbClr val="75FF82"/>
                </a:solidFill>
                <a:latin typeface="TT Hoves Bold"/>
                <a:ea typeface="TT Hoves Bold"/>
                <a:cs typeface="TT Hoves Bold"/>
                <a:sym typeface="TT Hoves Bold"/>
              </a:rPr>
              <a:t>STOCK 2 : HINDUSTAN COPPER LTD.</a:t>
            </a:r>
          </a:p>
        </p:txBody>
      </p:sp>
      <p:sp>
        <p:nvSpPr>
          <p:cNvPr name="TextBox 7" id="7"/>
          <p:cNvSpPr txBox="true"/>
          <p:nvPr/>
        </p:nvSpPr>
        <p:spPr>
          <a:xfrm rot="0">
            <a:off x="13836759" y="1353502"/>
            <a:ext cx="4067375" cy="1709506"/>
          </a:xfrm>
          <a:prstGeom prst="rect">
            <a:avLst/>
          </a:prstGeom>
        </p:spPr>
        <p:txBody>
          <a:bodyPr anchor="t" rtlCol="false" tIns="0" lIns="0" bIns="0" rIns="0">
            <a:spAutoFit/>
          </a:bodyPr>
          <a:lstStyle/>
          <a:p>
            <a:pPr algn="ctr">
              <a:lnSpc>
                <a:spcPts val="3263"/>
              </a:lnSpc>
            </a:pPr>
            <a:r>
              <a:rPr lang="en-US" sz="2331" b="true">
                <a:solidFill>
                  <a:srgbClr val="75FF82"/>
                </a:solidFill>
                <a:latin typeface="TT Hoves Bold"/>
                <a:ea typeface="TT Hoves Bold"/>
                <a:cs typeface="TT Hoves Bold"/>
                <a:sym typeface="TT Hoves Bold"/>
              </a:rPr>
              <a:t>Entry ?</a:t>
            </a:r>
          </a:p>
          <a:p>
            <a:pPr algn="ctr">
              <a:lnSpc>
                <a:spcPts val="2836"/>
              </a:lnSpc>
            </a:pPr>
          </a:p>
          <a:p>
            <a:pPr algn="ctr">
              <a:lnSpc>
                <a:spcPts val="2530"/>
              </a:lnSpc>
              <a:spcBef>
                <a:spcPct val="0"/>
              </a:spcBef>
            </a:pPr>
            <a:r>
              <a:rPr lang="en-US" sz="1807">
                <a:solidFill>
                  <a:srgbClr val="CFFFBB"/>
                </a:solidFill>
                <a:latin typeface="TT Hoves"/>
                <a:ea typeface="TT Hoves"/>
                <a:cs typeface="TT Hoves"/>
                <a:sym typeface="TT Hoves"/>
              </a:rPr>
              <a:t>Entry was taken near Magic Band support as RSI stayed above 50, confirming bullish continuation.</a:t>
            </a:r>
          </a:p>
        </p:txBody>
      </p:sp>
      <p:sp>
        <p:nvSpPr>
          <p:cNvPr name="TextBox 8" id="8"/>
          <p:cNvSpPr txBox="true"/>
          <p:nvPr/>
        </p:nvSpPr>
        <p:spPr>
          <a:xfrm rot="0">
            <a:off x="13906412" y="3515360"/>
            <a:ext cx="3928071" cy="1628140"/>
          </a:xfrm>
          <a:prstGeom prst="rect">
            <a:avLst/>
          </a:prstGeom>
        </p:spPr>
        <p:txBody>
          <a:bodyPr anchor="t" rtlCol="false" tIns="0" lIns="0" bIns="0" rIns="0">
            <a:spAutoFit/>
          </a:bodyPr>
          <a:lstStyle/>
          <a:p>
            <a:pPr algn="ctr">
              <a:lnSpc>
                <a:spcPts val="2940"/>
              </a:lnSpc>
            </a:pPr>
            <a:r>
              <a:rPr lang="en-US" sz="2100" b="true">
                <a:solidFill>
                  <a:srgbClr val="75FF82"/>
                </a:solidFill>
                <a:latin typeface="TT Hoves Bold"/>
                <a:ea typeface="TT Hoves Bold"/>
                <a:cs typeface="TT Hoves Bold"/>
                <a:sym typeface="TT Hoves Bold"/>
              </a:rPr>
              <a:t>Exit?</a:t>
            </a:r>
          </a:p>
          <a:p>
            <a:pPr algn="ctr">
              <a:lnSpc>
                <a:spcPts val="2940"/>
              </a:lnSpc>
            </a:pPr>
          </a:p>
          <a:p>
            <a:pPr algn="ctr">
              <a:lnSpc>
                <a:spcPts val="2380"/>
              </a:lnSpc>
              <a:spcBef>
                <a:spcPct val="0"/>
              </a:spcBef>
            </a:pPr>
            <a:r>
              <a:rPr lang="en-US" sz="1700">
                <a:solidFill>
                  <a:srgbClr val="B8F5A0"/>
                </a:solidFill>
                <a:latin typeface="TT Hoves"/>
                <a:ea typeface="TT Hoves"/>
                <a:cs typeface="TT Hoves"/>
                <a:sym typeface="TT Hoves"/>
              </a:rPr>
              <a:t>Exit was planned near the upper Magic Band and resistance zone to book profits after price extension.</a:t>
            </a:r>
          </a:p>
        </p:txBody>
      </p:sp>
      <p:sp>
        <p:nvSpPr>
          <p:cNvPr name="TextBox 9" id="9"/>
          <p:cNvSpPr txBox="true"/>
          <p:nvPr/>
        </p:nvSpPr>
        <p:spPr>
          <a:xfrm rot="0">
            <a:off x="14044788" y="5813820"/>
            <a:ext cx="3651319" cy="1628140"/>
          </a:xfrm>
          <a:prstGeom prst="rect">
            <a:avLst/>
          </a:prstGeom>
        </p:spPr>
        <p:txBody>
          <a:bodyPr anchor="t" rtlCol="false" tIns="0" lIns="0" bIns="0" rIns="0">
            <a:spAutoFit/>
          </a:bodyPr>
          <a:lstStyle/>
          <a:p>
            <a:pPr algn="ctr">
              <a:lnSpc>
                <a:spcPts val="2940"/>
              </a:lnSpc>
            </a:pPr>
            <a:r>
              <a:rPr lang="en-US" sz="2100" b="true">
                <a:solidFill>
                  <a:srgbClr val="75FF82"/>
                </a:solidFill>
                <a:latin typeface="TT Hoves Bold"/>
                <a:ea typeface="TT Hoves Bold"/>
                <a:cs typeface="TT Hoves Bold"/>
                <a:sym typeface="TT Hoves Bold"/>
              </a:rPr>
              <a:t>Stop Loss?</a:t>
            </a:r>
          </a:p>
          <a:p>
            <a:pPr algn="ctr">
              <a:lnSpc>
                <a:spcPts val="2940"/>
              </a:lnSpc>
            </a:pPr>
          </a:p>
          <a:p>
            <a:pPr algn="ctr">
              <a:lnSpc>
                <a:spcPts val="2380"/>
              </a:lnSpc>
              <a:spcBef>
                <a:spcPct val="0"/>
              </a:spcBef>
            </a:pPr>
            <a:r>
              <a:rPr lang="en-US" sz="1700">
                <a:solidFill>
                  <a:srgbClr val="B8F5A0"/>
                </a:solidFill>
                <a:latin typeface="TT Hoves"/>
                <a:ea typeface="TT Hoves"/>
                <a:cs typeface="TT Hoves"/>
                <a:sym typeface="TT Hoves"/>
              </a:rPr>
              <a:t>Stop loss was placed below the recent swing low and key support level to control downside risk.</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sp>
        <p:nvSpPr>
          <p:cNvPr name="TextBox 2" id="2"/>
          <p:cNvSpPr txBox="true"/>
          <p:nvPr/>
        </p:nvSpPr>
        <p:spPr>
          <a:xfrm rot="0">
            <a:off x="773858" y="2617468"/>
            <a:ext cx="6059280" cy="771525"/>
          </a:xfrm>
          <a:prstGeom prst="rect">
            <a:avLst/>
          </a:prstGeom>
        </p:spPr>
        <p:txBody>
          <a:bodyPr anchor="t" rtlCol="false" tIns="0" lIns="0" bIns="0" rIns="0">
            <a:spAutoFit/>
          </a:bodyPr>
          <a:lstStyle/>
          <a:p>
            <a:pPr algn="l">
              <a:lnSpc>
                <a:spcPts val="6300"/>
              </a:lnSpc>
            </a:pPr>
            <a:r>
              <a:rPr lang="en-US" sz="4500">
                <a:solidFill>
                  <a:srgbClr val="41E39A"/>
                </a:solidFill>
                <a:latin typeface="TT Hoves"/>
                <a:ea typeface="TT Hoves"/>
                <a:cs typeface="TT Hoves"/>
                <a:sym typeface="TT Hoves"/>
              </a:rPr>
              <a:t>STRATEGY SUMMARY</a:t>
            </a:r>
          </a:p>
        </p:txBody>
      </p:sp>
      <p:sp>
        <p:nvSpPr>
          <p:cNvPr name="TextBox 3" id="3"/>
          <p:cNvSpPr txBox="true"/>
          <p:nvPr/>
        </p:nvSpPr>
        <p:spPr>
          <a:xfrm rot="0">
            <a:off x="1082803" y="3898748"/>
            <a:ext cx="5750335" cy="4451985"/>
          </a:xfrm>
          <a:prstGeom prst="rect">
            <a:avLst/>
          </a:prstGeom>
        </p:spPr>
        <p:txBody>
          <a:bodyPr anchor="t" rtlCol="false" tIns="0" lIns="0" bIns="0" rIns="0">
            <a:spAutoFit/>
          </a:bodyPr>
          <a:lstStyle/>
          <a:p>
            <a:pPr algn="l">
              <a:lnSpc>
                <a:spcPts val="2940"/>
              </a:lnSpc>
            </a:pPr>
            <a:r>
              <a:rPr lang="en-US" sz="2100">
                <a:solidFill>
                  <a:srgbClr val="FFFFFF"/>
                </a:solidFill>
                <a:latin typeface="TT Hoves"/>
                <a:ea typeface="TT Hoves"/>
                <a:cs typeface="TT Hoves"/>
                <a:sym typeface="TT Hoves"/>
              </a:rPr>
              <a:t>This strategy combines Magic Band to identify trend direction, RSI to confirm momentum, and Fibonacci/price resistance levels to define profit targets. Entries are taken only when price respects Magic Band support and RSI confirms strength, reducing false signals. Stop loss is placed below the recent swing low to control risk, while targets are set near the upper Magic Band or Fibonacci extension zones to ensure a favorable risk–reward. Overall, the strategy emphasizes trend-following with disciplined risk management.</a:t>
            </a:r>
          </a:p>
        </p:txBody>
      </p:sp>
      <p:sp>
        <p:nvSpPr>
          <p:cNvPr name="Freeform 4" id="4"/>
          <p:cNvSpPr/>
          <p:nvPr/>
        </p:nvSpPr>
        <p:spPr>
          <a:xfrm flipH="false" flipV="false" rot="-507067">
            <a:off x="9529550" y="1648942"/>
            <a:ext cx="7042553" cy="7042553"/>
          </a:xfrm>
          <a:custGeom>
            <a:avLst/>
            <a:gdLst/>
            <a:ahLst/>
            <a:cxnLst/>
            <a:rect r="r" b="b" t="t" l="l"/>
            <a:pathLst>
              <a:path h="7042553" w="7042553">
                <a:moveTo>
                  <a:pt x="0" y="0"/>
                </a:moveTo>
                <a:lnTo>
                  <a:pt x="7042553" y="0"/>
                </a:lnTo>
                <a:lnTo>
                  <a:pt x="7042553" y="7042553"/>
                </a:lnTo>
                <a:lnTo>
                  <a:pt x="0" y="70425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7762140" y="2703193"/>
            <a:ext cx="4522966" cy="2068941"/>
            <a:chOff x="0" y="0"/>
            <a:chExt cx="1191234" cy="544906"/>
          </a:xfrm>
        </p:grpSpPr>
        <p:sp>
          <p:nvSpPr>
            <p:cNvPr name="Freeform 6" id="6"/>
            <p:cNvSpPr/>
            <p:nvPr/>
          </p:nvSpPr>
          <p:spPr>
            <a:xfrm flipH="false" flipV="false" rot="0">
              <a:off x="0" y="0"/>
              <a:ext cx="1191234" cy="544906"/>
            </a:xfrm>
            <a:custGeom>
              <a:avLst/>
              <a:gdLst/>
              <a:ahLst/>
              <a:cxnLst/>
              <a:rect r="r" b="b" t="t" l="l"/>
              <a:pathLst>
                <a:path h="544906" w="1191234">
                  <a:moveTo>
                    <a:pt x="61621" y="0"/>
                  </a:moveTo>
                  <a:lnTo>
                    <a:pt x="1129613" y="0"/>
                  </a:lnTo>
                  <a:cubicBezTo>
                    <a:pt x="1145956" y="0"/>
                    <a:pt x="1161629" y="6492"/>
                    <a:pt x="1173186" y="18048"/>
                  </a:cubicBezTo>
                  <a:cubicBezTo>
                    <a:pt x="1184742" y="29604"/>
                    <a:pt x="1191234" y="45278"/>
                    <a:pt x="1191234" y="61621"/>
                  </a:cubicBezTo>
                  <a:lnTo>
                    <a:pt x="1191234" y="483286"/>
                  </a:lnTo>
                  <a:cubicBezTo>
                    <a:pt x="1191234" y="499628"/>
                    <a:pt x="1184742" y="515302"/>
                    <a:pt x="1173186" y="526858"/>
                  </a:cubicBezTo>
                  <a:cubicBezTo>
                    <a:pt x="1161629" y="538414"/>
                    <a:pt x="1145956" y="544906"/>
                    <a:pt x="1129613" y="544906"/>
                  </a:cubicBezTo>
                  <a:lnTo>
                    <a:pt x="61621" y="544906"/>
                  </a:lnTo>
                  <a:cubicBezTo>
                    <a:pt x="45278" y="544906"/>
                    <a:pt x="29604" y="538414"/>
                    <a:pt x="18048" y="526858"/>
                  </a:cubicBezTo>
                  <a:cubicBezTo>
                    <a:pt x="6492" y="515302"/>
                    <a:pt x="0" y="499628"/>
                    <a:pt x="0" y="483286"/>
                  </a:cubicBezTo>
                  <a:lnTo>
                    <a:pt x="0" y="61621"/>
                  </a:lnTo>
                  <a:cubicBezTo>
                    <a:pt x="0" y="45278"/>
                    <a:pt x="6492" y="29604"/>
                    <a:pt x="18048" y="18048"/>
                  </a:cubicBezTo>
                  <a:cubicBezTo>
                    <a:pt x="29604" y="6492"/>
                    <a:pt x="45278" y="0"/>
                    <a:pt x="61621" y="0"/>
                  </a:cubicBezTo>
                  <a:close/>
                </a:path>
              </a:pathLst>
            </a:custGeom>
            <a:solidFill>
              <a:srgbClr val="141A1F">
                <a:alpha val="57647"/>
              </a:srgbClr>
            </a:solidFill>
            <a:ln w="47625" cap="rnd">
              <a:solidFill>
                <a:srgbClr val="BEC2C7">
                  <a:alpha val="57647"/>
                </a:srgbClr>
              </a:solidFill>
              <a:prstDash val="solid"/>
              <a:round/>
            </a:ln>
          </p:spPr>
        </p:sp>
        <p:sp>
          <p:nvSpPr>
            <p:cNvPr name="TextBox 7" id="7"/>
            <p:cNvSpPr txBox="true"/>
            <p:nvPr/>
          </p:nvSpPr>
          <p:spPr>
            <a:xfrm>
              <a:off x="0" y="-47625"/>
              <a:ext cx="1191234" cy="592531"/>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7996461" y="2903274"/>
            <a:ext cx="4128463" cy="1922145"/>
          </a:xfrm>
          <a:prstGeom prst="rect">
            <a:avLst/>
          </a:prstGeom>
        </p:spPr>
        <p:txBody>
          <a:bodyPr anchor="t" rtlCol="false" tIns="0" lIns="0" bIns="0" rIns="0">
            <a:spAutoFit/>
          </a:bodyPr>
          <a:lstStyle/>
          <a:p>
            <a:pPr algn="ctr">
              <a:lnSpc>
                <a:spcPts val="2940"/>
              </a:lnSpc>
            </a:pPr>
            <a:r>
              <a:rPr lang="en-US" b="true" sz="2100">
                <a:solidFill>
                  <a:srgbClr val="CFFFBB"/>
                </a:solidFill>
                <a:latin typeface="TT Hoves Bold"/>
                <a:ea typeface="TT Hoves Bold"/>
                <a:cs typeface="TT Hoves Bold"/>
                <a:sym typeface="TT Hoves Bold"/>
              </a:rPr>
              <a:t>WHY ENTRY</a:t>
            </a:r>
          </a:p>
          <a:p>
            <a:pPr algn="ctr">
              <a:lnSpc>
                <a:spcPts val="1960"/>
              </a:lnSpc>
            </a:pPr>
            <a:r>
              <a:rPr lang="en-US" sz="1400">
                <a:solidFill>
                  <a:srgbClr val="CFFFBB"/>
                </a:solidFill>
                <a:latin typeface="TT Hoves"/>
                <a:ea typeface="TT Hoves"/>
                <a:cs typeface="TT Hoves"/>
                <a:sym typeface="TT Hoves"/>
              </a:rPr>
              <a:t>Entry was taken when the price respected the Magic Band support and showed continuation in the prevailing uptrend. The RSI staying above 50 confirmed bullish momentum and</a:t>
            </a:r>
            <a:r>
              <a:rPr lang="en-US" b="true" sz="1400">
                <a:solidFill>
                  <a:srgbClr val="CFFFBB"/>
                </a:solidFill>
                <a:latin typeface="TT Hoves Bold"/>
                <a:ea typeface="TT Hoves Bold"/>
                <a:cs typeface="TT Hoves Bold"/>
                <a:sym typeface="TT Hoves Bold"/>
              </a:rPr>
              <a:t> reduced the chances of a false entry.</a:t>
            </a:r>
          </a:p>
          <a:p>
            <a:pPr algn="ctr">
              <a:lnSpc>
                <a:spcPts val="2520"/>
              </a:lnSpc>
            </a:pPr>
          </a:p>
        </p:txBody>
      </p:sp>
      <p:grpSp>
        <p:nvGrpSpPr>
          <p:cNvPr name="Group 9" id="9"/>
          <p:cNvGrpSpPr/>
          <p:nvPr/>
        </p:nvGrpSpPr>
        <p:grpSpPr>
          <a:xfrm rot="0">
            <a:off x="13447156" y="3946373"/>
            <a:ext cx="4494275" cy="2193804"/>
            <a:chOff x="0" y="0"/>
            <a:chExt cx="5992366" cy="2925072"/>
          </a:xfrm>
        </p:grpSpPr>
        <p:grpSp>
          <p:nvGrpSpPr>
            <p:cNvPr name="Group 10" id="10"/>
            <p:cNvGrpSpPr/>
            <p:nvPr/>
          </p:nvGrpSpPr>
          <p:grpSpPr>
            <a:xfrm rot="0">
              <a:off x="0" y="0"/>
              <a:ext cx="5992366" cy="2925072"/>
              <a:chOff x="0" y="0"/>
              <a:chExt cx="1183677" cy="577792"/>
            </a:xfrm>
          </p:grpSpPr>
          <p:sp>
            <p:nvSpPr>
              <p:cNvPr name="Freeform 11" id="11"/>
              <p:cNvSpPr/>
              <p:nvPr/>
            </p:nvSpPr>
            <p:spPr>
              <a:xfrm flipH="false" flipV="false" rot="0">
                <a:off x="0" y="0"/>
                <a:ext cx="1183677" cy="577792"/>
              </a:xfrm>
              <a:custGeom>
                <a:avLst/>
                <a:gdLst/>
                <a:ahLst/>
                <a:cxnLst/>
                <a:rect r="r" b="b" t="t" l="l"/>
                <a:pathLst>
                  <a:path h="577792" w="1183677">
                    <a:moveTo>
                      <a:pt x="62014" y="0"/>
                    </a:moveTo>
                    <a:lnTo>
                      <a:pt x="1121663" y="0"/>
                    </a:lnTo>
                    <a:cubicBezTo>
                      <a:pt x="1155913" y="0"/>
                      <a:pt x="1183677" y="27765"/>
                      <a:pt x="1183677" y="62014"/>
                    </a:cubicBezTo>
                    <a:lnTo>
                      <a:pt x="1183677" y="515778"/>
                    </a:lnTo>
                    <a:cubicBezTo>
                      <a:pt x="1183677" y="532225"/>
                      <a:pt x="1177144" y="547999"/>
                      <a:pt x="1165514" y="559628"/>
                    </a:cubicBezTo>
                    <a:cubicBezTo>
                      <a:pt x="1153884" y="571258"/>
                      <a:pt x="1138110" y="577792"/>
                      <a:pt x="1121663" y="577792"/>
                    </a:cubicBezTo>
                    <a:lnTo>
                      <a:pt x="62014" y="577792"/>
                    </a:lnTo>
                    <a:cubicBezTo>
                      <a:pt x="27765" y="577792"/>
                      <a:pt x="0" y="550027"/>
                      <a:pt x="0" y="515778"/>
                    </a:cubicBezTo>
                    <a:lnTo>
                      <a:pt x="0" y="62014"/>
                    </a:lnTo>
                    <a:cubicBezTo>
                      <a:pt x="0" y="45567"/>
                      <a:pt x="6534" y="29793"/>
                      <a:pt x="18164" y="18164"/>
                    </a:cubicBezTo>
                    <a:cubicBezTo>
                      <a:pt x="29793" y="6534"/>
                      <a:pt x="45567" y="0"/>
                      <a:pt x="62014" y="0"/>
                    </a:cubicBezTo>
                    <a:close/>
                  </a:path>
                </a:pathLst>
              </a:custGeom>
              <a:solidFill>
                <a:srgbClr val="141A1F">
                  <a:alpha val="57647"/>
                </a:srgbClr>
              </a:solidFill>
              <a:ln w="47625" cap="rnd">
                <a:solidFill>
                  <a:srgbClr val="BEC2C7">
                    <a:alpha val="57647"/>
                  </a:srgbClr>
                </a:solidFill>
                <a:prstDash val="solid"/>
                <a:round/>
              </a:ln>
            </p:spPr>
          </p:sp>
          <p:sp>
            <p:nvSpPr>
              <p:cNvPr name="TextBox 12" id="12"/>
              <p:cNvSpPr txBox="true"/>
              <p:nvPr/>
            </p:nvSpPr>
            <p:spPr>
              <a:xfrm>
                <a:off x="0" y="-47625"/>
                <a:ext cx="1183677" cy="625417"/>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268943" y="371395"/>
              <a:ext cx="5454481" cy="2134658"/>
            </a:xfrm>
            <a:prstGeom prst="rect">
              <a:avLst/>
            </a:prstGeom>
          </p:spPr>
          <p:txBody>
            <a:bodyPr anchor="t" rtlCol="false" tIns="0" lIns="0" bIns="0" rIns="0">
              <a:spAutoFit/>
            </a:bodyPr>
            <a:lstStyle/>
            <a:p>
              <a:pPr algn="ctr">
                <a:lnSpc>
                  <a:spcPts val="2940"/>
                </a:lnSpc>
              </a:pPr>
              <a:r>
                <a:rPr lang="en-US" b="true" sz="2100">
                  <a:solidFill>
                    <a:srgbClr val="CFFFBB"/>
                  </a:solidFill>
                  <a:latin typeface="TT Hoves Bold"/>
                  <a:ea typeface="TT Hoves Bold"/>
                  <a:cs typeface="TT Hoves Bold"/>
                  <a:sym typeface="TT Hoves Bold"/>
                </a:rPr>
                <a:t>HOW STOP LOSS?</a:t>
              </a:r>
            </a:p>
            <a:p>
              <a:pPr algn="ctr">
                <a:lnSpc>
                  <a:spcPts val="1960"/>
                </a:lnSpc>
              </a:pPr>
              <a:r>
                <a:rPr lang="en-US" b="true" sz="1400">
                  <a:solidFill>
                    <a:srgbClr val="CFFFBB"/>
                  </a:solidFill>
                  <a:latin typeface="TT Hoves Bold"/>
                  <a:ea typeface="TT Hoves Bold"/>
                  <a:cs typeface="TT Hoves Bold"/>
                  <a:sym typeface="TT Hoves Bold"/>
                </a:rPr>
                <a:t>Stop loss was placed below the recent swing low and key support level, ensuring controlled risk. A breakdown below this level would invalidate the bullish setup, making it a logical point for risk management.</a:t>
              </a:r>
            </a:p>
          </p:txBody>
        </p:sp>
      </p:grpSp>
      <p:grpSp>
        <p:nvGrpSpPr>
          <p:cNvPr name="Group 14" id="14"/>
          <p:cNvGrpSpPr/>
          <p:nvPr/>
        </p:nvGrpSpPr>
        <p:grpSpPr>
          <a:xfrm rot="0">
            <a:off x="9385981" y="6578509"/>
            <a:ext cx="4738348" cy="2483150"/>
            <a:chOff x="0" y="0"/>
            <a:chExt cx="1247960" cy="653998"/>
          </a:xfrm>
        </p:grpSpPr>
        <p:sp>
          <p:nvSpPr>
            <p:cNvPr name="Freeform 15" id="15"/>
            <p:cNvSpPr/>
            <p:nvPr/>
          </p:nvSpPr>
          <p:spPr>
            <a:xfrm flipH="false" flipV="false" rot="0">
              <a:off x="0" y="0"/>
              <a:ext cx="1247960" cy="653998"/>
            </a:xfrm>
            <a:custGeom>
              <a:avLst/>
              <a:gdLst/>
              <a:ahLst/>
              <a:cxnLst/>
              <a:rect r="r" b="b" t="t" l="l"/>
              <a:pathLst>
                <a:path h="653998" w="1247960">
                  <a:moveTo>
                    <a:pt x="58820" y="0"/>
                  </a:moveTo>
                  <a:lnTo>
                    <a:pt x="1189140" y="0"/>
                  </a:lnTo>
                  <a:cubicBezTo>
                    <a:pt x="1221626" y="0"/>
                    <a:pt x="1247960" y="26335"/>
                    <a:pt x="1247960" y="58820"/>
                  </a:cubicBezTo>
                  <a:lnTo>
                    <a:pt x="1247960" y="595178"/>
                  </a:lnTo>
                  <a:cubicBezTo>
                    <a:pt x="1247960" y="627664"/>
                    <a:pt x="1221626" y="653998"/>
                    <a:pt x="1189140" y="653998"/>
                  </a:cubicBezTo>
                  <a:lnTo>
                    <a:pt x="58820" y="653998"/>
                  </a:lnTo>
                  <a:cubicBezTo>
                    <a:pt x="43220" y="653998"/>
                    <a:pt x="28259" y="647801"/>
                    <a:pt x="17228" y="636770"/>
                  </a:cubicBezTo>
                  <a:cubicBezTo>
                    <a:pt x="6197" y="625740"/>
                    <a:pt x="0" y="610778"/>
                    <a:pt x="0" y="595178"/>
                  </a:cubicBezTo>
                  <a:lnTo>
                    <a:pt x="0" y="58820"/>
                  </a:lnTo>
                  <a:cubicBezTo>
                    <a:pt x="0" y="26335"/>
                    <a:pt x="26335" y="0"/>
                    <a:pt x="58820" y="0"/>
                  </a:cubicBezTo>
                  <a:close/>
                </a:path>
              </a:pathLst>
            </a:custGeom>
            <a:solidFill>
              <a:srgbClr val="141A1F">
                <a:alpha val="57647"/>
              </a:srgbClr>
            </a:solidFill>
            <a:ln w="47625" cap="rnd">
              <a:solidFill>
                <a:srgbClr val="BEC2C7">
                  <a:alpha val="57647"/>
                </a:srgbClr>
              </a:solidFill>
              <a:prstDash val="solid"/>
              <a:round/>
            </a:ln>
          </p:spPr>
        </p:sp>
        <p:sp>
          <p:nvSpPr>
            <p:cNvPr name="TextBox 16" id="16"/>
            <p:cNvSpPr txBox="true"/>
            <p:nvPr/>
          </p:nvSpPr>
          <p:spPr>
            <a:xfrm>
              <a:off x="0" y="-47625"/>
              <a:ext cx="1247960" cy="701623"/>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9673023" y="6865996"/>
            <a:ext cx="4164266" cy="1860550"/>
          </a:xfrm>
          <a:prstGeom prst="rect">
            <a:avLst/>
          </a:prstGeom>
        </p:spPr>
        <p:txBody>
          <a:bodyPr anchor="t" rtlCol="false" tIns="0" lIns="0" bIns="0" rIns="0">
            <a:spAutoFit/>
          </a:bodyPr>
          <a:lstStyle/>
          <a:p>
            <a:pPr algn="ctr">
              <a:lnSpc>
                <a:spcPts val="2940"/>
              </a:lnSpc>
            </a:pPr>
            <a:r>
              <a:rPr lang="en-US" b="true" sz="2100">
                <a:solidFill>
                  <a:srgbClr val="CFFFBB"/>
                </a:solidFill>
                <a:latin typeface="TT Hoves Bold"/>
                <a:ea typeface="TT Hoves Bold"/>
                <a:cs typeface="TT Hoves Bold"/>
                <a:sym typeface="TT Hoves Bold"/>
              </a:rPr>
              <a:t>How target is selected?</a:t>
            </a:r>
          </a:p>
          <a:p>
            <a:pPr algn="ctr">
              <a:lnSpc>
                <a:spcPts val="1960"/>
              </a:lnSpc>
            </a:pPr>
            <a:r>
              <a:rPr lang="en-US" b="true" sz="1400">
                <a:solidFill>
                  <a:srgbClr val="CFFFBB"/>
                </a:solidFill>
                <a:latin typeface="TT Hoves Bold"/>
                <a:ea typeface="TT Hoves Bold"/>
                <a:cs typeface="TT Hoves Bold"/>
                <a:sym typeface="TT Hoves Bold"/>
              </a:rPr>
              <a:t>Targets were selected near the upper Magic Band and Fibonacci extension/resistance levels, where price exhaustion is commonly observed. This helped ensure a favorable risk–reward ratio while booking profits after an extended move.</a:t>
            </a:r>
          </a:p>
          <a:p>
            <a:pPr algn="ctr">
              <a:lnSpc>
                <a:spcPts val="1960"/>
              </a:lnSpc>
            </a:pPr>
          </a:p>
        </p:txBody>
      </p:sp>
      <p:grpSp>
        <p:nvGrpSpPr>
          <p:cNvPr name="Group 18" id="18"/>
          <p:cNvGrpSpPr/>
          <p:nvPr/>
        </p:nvGrpSpPr>
        <p:grpSpPr>
          <a:xfrm rot="0">
            <a:off x="781094" y="3545552"/>
            <a:ext cx="7215367" cy="5460369"/>
            <a:chOff x="0" y="0"/>
            <a:chExt cx="9620489" cy="7280492"/>
          </a:xfrm>
        </p:grpSpPr>
        <p:grpSp>
          <p:nvGrpSpPr>
            <p:cNvPr name="Group 19" id="19"/>
            <p:cNvGrpSpPr/>
            <p:nvPr/>
          </p:nvGrpSpPr>
          <p:grpSpPr>
            <a:xfrm rot="0">
              <a:off x="0" y="0"/>
              <a:ext cx="8334078" cy="7280492"/>
              <a:chOff x="0" y="0"/>
              <a:chExt cx="1646238" cy="1438122"/>
            </a:xfrm>
          </p:grpSpPr>
          <p:sp>
            <p:nvSpPr>
              <p:cNvPr name="Freeform 20" id="20"/>
              <p:cNvSpPr/>
              <p:nvPr/>
            </p:nvSpPr>
            <p:spPr>
              <a:xfrm flipH="false" flipV="false" rot="0">
                <a:off x="0" y="0"/>
                <a:ext cx="1646238" cy="1438122"/>
              </a:xfrm>
              <a:custGeom>
                <a:avLst/>
                <a:gdLst/>
                <a:ahLst/>
                <a:cxnLst/>
                <a:rect r="r" b="b" t="t" l="l"/>
                <a:pathLst>
                  <a:path h="1438122" w="1646238">
                    <a:moveTo>
                      <a:pt x="44589" y="0"/>
                    </a:moveTo>
                    <a:lnTo>
                      <a:pt x="1601648" y="0"/>
                    </a:lnTo>
                    <a:cubicBezTo>
                      <a:pt x="1613474" y="0"/>
                      <a:pt x="1624816" y="4698"/>
                      <a:pt x="1633178" y="13060"/>
                    </a:cubicBezTo>
                    <a:cubicBezTo>
                      <a:pt x="1641540" y="21422"/>
                      <a:pt x="1646238" y="32764"/>
                      <a:pt x="1646238" y="44589"/>
                    </a:cubicBezTo>
                    <a:lnTo>
                      <a:pt x="1646238" y="1393532"/>
                    </a:lnTo>
                    <a:cubicBezTo>
                      <a:pt x="1646238" y="1405358"/>
                      <a:pt x="1641540" y="1416700"/>
                      <a:pt x="1633178" y="1425062"/>
                    </a:cubicBezTo>
                    <a:cubicBezTo>
                      <a:pt x="1624816" y="1433424"/>
                      <a:pt x="1613474" y="1438122"/>
                      <a:pt x="1601648" y="1438122"/>
                    </a:cubicBezTo>
                    <a:lnTo>
                      <a:pt x="44589" y="1438122"/>
                    </a:lnTo>
                    <a:cubicBezTo>
                      <a:pt x="19963" y="1438122"/>
                      <a:pt x="0" y="1418158"/>
                      <a:pt x="0" y="1393532"/>
                    </a:cubicBezTo>
                    <a:lnTo>
                      <a:pt x="0" y="44589"/>
                    </a:lnTo>
                    <a:cubicBezTo>
                      <a:pt x="0" y="32764"/>
                      <a:pt x="4698" y="21422"/>
                      <a:pt x="13060" y="13060"/>
                    </a:cubicBezTo>
                    <a:cubicBezTo>
                      <a:pt x="21422" y="4698"/>
                      <a:pt x="32764" y="0"/>
                      <a:pt x="44589" y="0"/>
                    </a:cubicBezTo>
                    <a:close/>
                  </a:path>
                </a:pathLst>
              </a:custGeom>
              <a:solidFill>
                <a:srgbClr val="33CD91">
                  <a:alpha val="28627"/>
                </a:srgbClr>
              </a:solidFill>
              <a:ln w="47625" cap="rnd">
                <a:solidFill>
                  <a:srgbClr val="BEC2C7">
                    <a:alpha val="28627"/>
                  </a:srgbClr>
                </a:solidFill>
                <a:prstDash val="solid"/>
                <a:round/>
              </a:ln>
            </p:spPr>
          </p:sp>
          <p:sp>
            <p:nvSpPr>
              <p:cNvPr name="TextBox 21" id="21"/>
              <p:cNvSpPr txBox="true"/>
              <p:nvPr/>
            </p:nvSpPr>
            <p:spPr>
              <a:xfrm>
                <a:off x="0" y="-47625"/>
                <a:ext cx="1646238" cy="1485747"/>
              </a:xfrm>
              <a:prstGeom prst="rect">
                <a:avLst/>
              </a:prstGeom>
            </p:spPr>
            <p:txBody>
              <a:bodyPr anchor="ctr" rtlCol="false" tIns="50800" lIns="50800" bIns="50800" rIns="50800"/>
              <a:lstStyle/>
              <a:p>
                <a:pPr algn="ctr">
                  <a:lnSpc>
                    <a:spcPts val="2659"/>
                  </a:lnSpc>
                  <a:spcBef>
                    <a:spcPct val="0"/>
                  </a:spcBef>
                </a:pPr>
              </a:p>
            </p:txBody>
          </p:sp>
        </p:grpSp>
        <p:sp>
          <p:nvSpPr>
            <p:cNvPr name="TextBox 22" id="22"/>
            <p:cNvSpPr txBox="true"/>
            <p:nvPr/>
          </p:nvSpPr>
          <p:spPr>
            <a:xfrm rot="0">
              <a:off x="3697989" y="4964507"/>
              <a:ext cx="5922500" cy="471805"/>
            </a:xfrm>
            <a:prstGeom prst="rect">
              <a:avLst/>
            </a:prstGeom>
          </p:spPr>
          <p:txBody>
            <a:bodyPr anchor="t" rtlCol="false" tIns="0" lIns="0" bIns="0" rIns="0">
              <a:spAutoFit/>
            </a:bodyPr>
            <a:lstStyle/>
            <a:p>
              <a:pPr algn="l">
                <a:lnSpc>
                  <a:spcPts val="2940"/>
                </a:lnSpc>
              </a:pPr>
            </a:p>
          </p:txBody>
        </p:sp>
        <p:sp>
          <p:nvSpPr>
            <p:cNvPr name="TextBox 23" id="23"/>
            <p:cNvSpPr txBox="true"/>
            <p:nvPr/>
          </p:nvSpPr>
          <p:spPr>
            <a:xfrm rot="0">
              <a:off x="3799584" y="4246432"/>
              <a:ext cx="2363973" cy="471805"/>
            </a:xfrm>
            <a:prstGeom prst="rect">
              <a:avLst/>
            </a:prstGeom>
          </p:spPr>
          <p:txBody>
            <a:bodyPr anchor="t" rtlCol="false" tIns="0" lIns="0" bIns="0" rIns="0">
              <a:spAutoFit/>
            </a:bodyPr>
            <a:lstStyle/>
            <a:p>
              <a:pPr algn="l">
                <a:lnSpc>
                  <a:spcPts val="2940"/>
                </a:lnSpc>
              </a:pPr>
            </a:p>
          </p:txBody>
        </p:sp>
      </p:grpSp>
    </p:spTree>
  </p:cSld>
  <p:clrMapOvr>
    <a:masterClrMapping/>
  </p:clrMapOvr>
</p:sld>
</file>

<file path=ppt/slides/slide9.xml><?xml version="1.0" encoding="utf-8"?>
<p:sld xmlns:p="http://schemas.openxmlformats.org/presentationml/2006/main" xmlns:a="http://schemas.openxmlformats.org/drawingml/2006/main">
  <p:cSld>
    <p:bg>
      <p:bgPr>
        <a:solidFill>
          <a:srgbClr val="141A1F"/>
        </a:solidFill>
      </p:bgPr>
    </p:bg>
    <p:spTree>
      <p:nvGrpSpPr>
        <p:cNvPr id="1" name=""/>
        <p:cNvGrpSpPr/>
        <p:nvPr/>
      </p:nvGrpSpPr>
      <p:grpSpPr>
        <a:xfrm>
          <a:off x="0" y="0"/>
          <a:ext cx="0" cy="0"/>
          <a:chOff x="0" y="0"/>
          <a:chExt cx="0" cy="0"/>
        </a:xfrm>
      </p:grpSpPr>
      <p:sp>
        <p:nvSpPr>
          <p:cNvPr name="TextBox 2" id="2"/>
          <p:cNvSpPr txBox="true"/>
          <p:nvPr/>
        </p:nvSpPr>
        <p:spPr>
          <a:xfrm rot="0">
            <a:off x="1028700" y="1067281"/>
            <a:ext cx="11653225" cy="1339007"/>
          </a:xfrm>
          <a:prstGeom prst="rect">
            <a:avLst/>
          </a:prstGeom>
        </p:spPr>
        <p:txBody>
          <a:bodyPr anchor="t" rtlCol="false" tIns="0" lIns="0" bIns="0" rIns="0">
            <a:spAutoFit/>
          </a:bodyPr>
          <a:lstStyle/>
          <a:p>
            <a:pPr algn="l">
              <a:lnSpc>
                <a:spcPts val="11074"/>
              </a:lnSpc>
            </a:pPr>
            <a:r>
              <a:rPr lang="en-US" sz="7910" b="true">
                <a:solidFill>
                  <a:srgbClr val="75FF82"/>
                </a:solidFill>
                <a:latin typeface="TT Hoves Bold"/>
                <a:ea typeface="TT Hoves Bold"/>
                <a:cs typeface="TT Hoves Bold"/>
                <a:sym typeface="TT Hoves Bold"/>
              </a:rPr>
              <a:t>RISK MANAGEMENT </a:t>
            </a:r>
          </a:p>
        </p:txBody>
      </p:sp>
      <p:sp>
        <p:nvSpPr>
          <p:cNvPr name="TextBox 3" id="3"/>
          <p:cNvSpPr txBox="true"/>
          <p:nvPr/>
        </p:nvSpPr>
        <p:spPr>
          <a:xfrm rot="0">
            <a:off x="1028700" y="3088393"/>
            <a:ext cx="8115300" cy="5728598"/>
          </a:xfrm>
          <a:prstGeom prst="rect">
            <a:avLst/>
          </a:prstGeom>
        </p:spPr>
        <p:txBody>
          <a:bodyPr anchor="t" rtlCol="false" tIns="0" lIns="0" bIns="0" rIns="0">
            <a:spAutoFit/>
          </a:bodyPr>
          <a:lstStyle/>
          <a:p>
            <a:pPr algn="l">
              <a:lnSpc>
                <a:spcPts val="5025"/>
              </a:lnSpc>
            </a:pPr>
            <a:r>
              <a:rPr lang="en-US" sz="3589">
                <a:solidFill>
                  <a:srgbClr val="FFFFFF"/>
                </a:solidFill>
                <a:latin typeface="TT Hoves"/>
                <a:ea typeface="TT Hoves"/>
                <a:cs typeface="TT Hoves"/>
                <a:sym typeface="TT Hoves"/>
              </a:rPr>
              <a:t>Risk management is the process of identifying, analyzing, and controlling potential risks that may negatively affect a project or business. Effective risk management helps in reducing losses and improving decision-making. </a:t>
            </a:r>
          </a:p>
          <a:p>
            <a:pPr algn="l">
              <a:lnSpc>
                <a:spcPts val="5025"/>
              </a:lnSpc>
            </a:pPr>
            <a:r>
              <a:rPr lang="en-US" sz="3589">
                <a:solidFill>
                  <a:srgbClr val="FFFFFF"/>
                </a:solidFill>
                <a:latin typeface="TT Hoves"/>
                <a:ea typeface="TT Hoves"/>
                <a:cs typeface="TT Hoves"/>
                <a:sym typeface="TT Hoves"/>
              </a:rPr>
              <a:t>Risk management focuses on identifying and controlling potential risks in a project or business.</a:t>
            </a:r>
          </a:p>
        </p:txBody>
      </p:sp>
      <p:grpSp>
        <p:nvGrpSpPr>
          <p:cNvPr name="Group 4" id="4"/>
          <p:cNvGrpSpPr/>
          <p:nvPr/>
        </p:nvGrpSpPr>
        <p:grpSpPr>
          <a:xfrm rot="0">
            <a:off x="9572674" y="2880779"/>
            <a:ext cx="7172743" cy="3110013"/>
            <a:chOff x="0" y="0"/>
            <a:chExt cx="9563657" cy="4146685"/>
          </a:xfrm>
        </p:grpSpPr>
        <p:grpSp>
          <p:nvGrpSpPr>
            <p:cNvPr name="Group 5" id="5"/>
            <p:cNvGrpSpPr/>
            <p:nvPr/>
          </p:nvGrpSpPr>
          <p:grpSpPr>
            <a:xfrm rot="0">
              <a:off x="0" y="0"/>
              <a:ext cx="9563657" cy="4146685"/>
              <a:chOff x="0" y="0"/>
              <a:chExt cx="1889118" cy="819098"/>
            </a:xfrm>
          </p:grpSpPr>
          <p:sp>
            <p:nvSpPr>
              <p:cNvPr name="Freeform 6" id="6"/>
              <p:cNvSpPr/>
              <p:nvPr/>
            </p:nvSpPr>
            <p:spPr>
              <a:xfrm flipH="false" flipV="false" rot="0">
                <a:off x="0" y="0"/>
                <a:ext cx="1889117" cy="819098"/>
              </a:xfrm>
              <a:custGeom>
                <a:avLst/>
                <a:gdLst/>
                <a:ahLst/>
                <a:cxnLst/>
                <a:rect r="r" b="b" t="t" l="l"/>
                <a:pathLst>
                  <a:path h="819098" w="1889117">
                    <a:moveTo>
                      <a:pt x="38857" y="0"/>
                    </a:moveTo>
                    <a:lnTo>
                      <a:pt x="1850261" y="0"/>
                    </a:lnTo>
                    <a:cubicBezTo>
                      <a:pt x="1871721" y="0"/>
                      <a:pt x="1889117" y="17397"/>
                      <a:pt x="1889117" y="38857"/>
                    </a:cubicBezTo>
                    <a:lnTo>
                      <a:pt x="1889117" y="780241"/>
                    </a:lnTo>
                    <a:cubicBezTo>
                      <a:pt x="1889117" y="801701"/>
                      <a:pt x="1871721" y="819098"/>
                      <a:pt x="1850261" y="819098"/>
                    </a:cubicBezTo>
                    <a:lnTo>
                      <a:pt x="38857" y="819098"/>
                    </a:lnTo>
                    <a:cubicBezTo>
                      <a:pt x="17397" y="819098"/>
                      <a:pt x="0" y="801701"/>
                      <a:pt x="0" y="780241"/>
                    </a:cubicBezTo>
                    <a:lnTo>
                      <a:pt x="0" y="38857"/>
                    </a:lnTo>
                    <a:cubicBezTo>
                      <a:pt x="0" y="17397"/>
                      <a:pt x="17397" y="0"/>
                      <a:pt x="38857" y="0"/>
                    </a:cubicBezTo>
                    <a:close/>
                  </a:path>
                </a:pathLst>
              </a:custGeom>
              <a:gradFill rotWithShape="true">
                <a:gsLst>
                  <a:gs pos="0">
                    <a:srgbClr val="000000">
                      <a:alpha val="70000"/>
                    </a:srgbClr>
                  </a:gs>
                  <a:gs pos="100000">
                    <a:srgbClr val="33CD91">
                      <a:alpha val="70000"/>
                    </a:srgbClr>
                  </a:gs>
                </a:gsLst>
                <a:lin ang="0"/>
              </a:gradFill>
              <a:ln w="47625" cap="rnd">
                <a:solidFill>
                  <a:srgbClr val="BEC2C7">
                    <a:alpha val="69804"/>
                  </a:srgbClr>
                </a:solidFill>
                <a:prstDash val="solid"/>
                <a:round/>
              </a:ln>
            </p:spPr>
          </p:sp>
          <p:sp>
            <p:nvSpPr>
              <p:cNvPr name="TextBox 7" id="7"/>
              <p:cNvSpPr txBox="true"/>
              <p:nvPr/>
            </p:nvSpPr>
            <p:spPr>
              <a:xfrm>
                <a:off x="0" y="-47625"/>
                <a:ext cx="1889118" cy="866723"/>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597632" y="1235637"/>
              <a:ext cx="8368393" cy="2911048"/>
            </a:xfrm>
            <a:prstGeom prst="rect">
              <a:avLst/>
            </a:prstGeom>
          </p:spPr>
          <p:txBody>
            <a:bodyPr anchor="t" rtlCol="false" tIns="0" lIns="0" bIns="0" rIns="0">
              <a:spAutoFit/>
            </a:bodyPr>
            <a:lstStyle/>
            <a:p>
              <a:pPr algn="l">
                <a:lnSpc>
                  <a:spcPts val="2248"/>
                </a:lnSpc>
              </a:pPr>
              <a:r>
                <a:rPr lang="en-US" sz="1606">
                  <a:solidFill>
                    <a:srgbClr val="C3FFAB"/>
                  </a:solidFill>
                  <a:latin typeface="TT Hoves"/>
                  <a:ea typeface="TT Hoves"/>
                  <a:cs typeface="TT Hoves"/>
                  <a:sym typeface="TT Hoves"/>
                </a:rPr>
                <a:t>The Risk Priority Score (RPS) is a quantitative measure used to determine the seriousness of a risk by combining its likelihood and impact. It is calculated using the formula:</a:t>
              </a:r>
            </a:p>
            <a:p>
              <a:pPr algn="l">
                <a:lnSpc>
                  <a:spcPts val="2248"/>
                </a:lnSpc>
              </a:pPr>
              <a:r>
                <a:rPr lang="en-US" sz="1606">
                  <a:solidFill>
                    <a:srgbClr val="C3FFAB"/>
                  </a:solidFill>
                  <a:latin typeface="TT Hoves"/>
                  <a:ea typeface="TT Hoves"/>
                  <a:cs typeface="TT Hoves"/>
                  <a:sym typeface="TT Hoves"/>
                </a:rPr>
                <a:t>RPS = Likelihood × Impact</a:t>
              </a:r>
            </a:p>
            <a:p>
              <a:pPr algn="l">
                <a:lnSpc>
                  <a:spcPts val="2248"/>
                </a:lnSpc>
              </a:pPr>
              <a:r>
                <a:rPr lang="en-US" sz="1606">
                  <a:solidFill>
                    <a:srgbClr val="C3FFAB"/>
                  </a:solidFill>
                  <a:latin typeface="TT Hoves"/>
                  <a:ea typeface="TT Hoves"/>
                  <a:cs typeface="TT Hoves"/>
                  <a:sym typeface="TT Hoves"/>
                </a:rPr>
                <a:t>A higher RPS value indicates a higher-priority risk that requires immediate attention, while lower values represent risks that can be monitored or managed with basic controls.</a:t>
              </a:r>
            </a:p>
            <a:p>
              <a:pPr algn="l">
                <a:lnSpc>
                  <a:spcPts val="2248"/>
                </a:lnSpc>
              </a:pPr>
            </a:p>
          </p:txBody>
        </p:sp>
        <p:sp>
          <p:nvSpPr>
            <p:cNvPr name="TextBox 9" id="9"/>
            <p:cNvSpPr txBox="true"/>
            <p:nvPr/>
          </p:nvSpPr>
          <p:spPr>
            <a:xfrm rot="0">
              <a:off x="597632" y="310182"/>
              <a:ext cx="6113047" cy="890058"/>
            </a:xfrm>
            <a:prstGeom prst="rect">
              <a:avLst/>
            </a:prstGeom>
          </p:spPr>
          <p:txBody>
            <a:bodyPr anchor="t" rtlCol="false" tIns="0" lIns="0" bIns="0" rIns="0">
              <a:spAutoFit/>
            </a:bodyPr>
            <a:lstStyle/>
            <a:p>
              <a:pPr algn="l">
                <a:lnSpc>
                  <a:spcPts val="5600"/>
                </a:lnSpc>
              </a:pPr>
              <a:r>
                <a:rPr lang="en-US" sz="4000" b="true">
                  <a:gradFill>
                    <a:gsLst>
                      <a:gs pos="0">
                        <a:srgbClr val="FFFFFF">
                          <a:alpha val="100000"/>
                        </a:srgbClr>
                      </a:gs>
                      <a:gs pos="100000">
                        <a:srgbClr val="37CC73">
                          <a:alpha val="100000"/>
                        </a:srgbClr>
                      </a:gs>
                    </a:gsLst>
                    <a:lin ang="0"/>
                  </a:gradFill>
                  <a:latin typeface="TT Hoves Bold"/>
                  <a:ea typeface="TT Hoves Bold"/>
                  <a:cs typeface="TT Hoves Bold"/>
                  <a:sym typeface="TT Hoves Bold"/>
                </a:rPr>
                <a:t>RPS</a:t>
              </a:r>
            </a:p>
          </p:txBody>
        </p:sp>
      </p:grpSp>
      <p:grpSp>
        <p:nvGrpSpPr>
          <p:cNvPr name="Group 10" id="10"/>
          <p:cNvGrpSpPr/>
          <p:nvPr/>
        </p:nvGrpSpPr>
        <p:grpSpPr>
          <a:xfrm rot="0">
            <a:off x="9572674" y="6323371"/>
            <a:ext cx="7172743" cy="2934929"/>
            <a:chOff x="0" y="0"/>
            <a:chExt cx="9563657" cy="3913239"/>
          </a:xfrm>
        </p:grpSpPr>
        <p:grpSp>
          <p:nvGrpSpPr>
            <p:cNvPr name="Group 11" id="11"/>
            <p:cNvGrpSpPr/>
            <p:nvPr/>
          </p:nvGrpSpPr>
          <p:grpSpPr>
            <a:xfrm rot="0">
              <a:off x="0" y="0"/>
              <a:ext cx="9563657" cy="3913239"/>
              <a:chOff x="0" y="0"/>
              <a:chExt cx="1889118" cy="772986"/>
            </a:xfrm>
          </p:grpSpPr>
          <p:sp>
            <p:nvSpPr>
              <p:cNvPr name="Freeform 12" id="12"/>
              <p:cNvSpPr/>
              <p:nvPr/>
            </p:nvSpPr>
            <p:spPr>
              <a:xfrm flipH="false" flipV="false" rot="0">
                <a:off x="0" y="0"/>
                <a:ext cx="1889117" cy="772986"/>
              </a:xfrm>
              <a:custGeom>
                <a:avLst/>
                <a:gdLst/>
                <a:ahLst/>
                <a:cxnLst/>
                <a:rect r="r" b="b" t="t" l="l"/>
                <a:pathLst>
                  <a:path h="772986" w="1889117">
                    <a:moveTo>
                      <a:pt x="38857" y="0"/>
                    </a:moveTo>
                    <a:lnTo>
                      <a:pt x="1850261" y="0"/>
                    </a:lnTo>
                    <a:cubicBezTo>
                      <a:pt x="1871721" y="0"/>
                      <a:pt x="1889117" y="17397"/>
                      <a:pt x="1889117" y="38857"/>
                    </a:cubicBezTo>
                    <a:lnTo>
                      <a:pt x="1889117" y="734129"/>
                    </a:lnTo>
                    <a:cubicBezTo>
                      <a:pt x="1889117" y="755589"/>
                      <a:pt x="1871721" y="772986"/>
                      <a:pt x="1850261" y="772986"/>
                    </a:cubicBezTo>
                    <a:lnTo>
                      <a:pt x="38857" y="772986"/>
                    </a:lnTo>
                    <a:cubicBezTo>
                      <a:pt x="17397" y="772986"/>
                      <a:pt x="0" y="755589"/>
                      <a:pt x="0" y="734129"/>
                    </a:cubicBezTo>
                    <a:lnTo>
                      <a:pt x="0" y="38857"/>
                    </a:lnTo>
                    <a:cubicBezTo>
                      <a:pt x="0" y="17397"/>
                      <a:pt x="17397" y="0"/>
                      <a:pt x="38857" y="0"/>
                    </a:cubicBezTo>
                    <a:close/>
                  </a:path>
                </a:pathLst>
              </a:custGeom>
              <a:gradFill rotWithShape="true">
                <a:gsLst>
                  <a:gs pos="0">
                    <a:srgbClr val="000000">
                      <a:alpha val="70000"/>
                    </a:srgbClr>
                  </a:gs>
                  <a:gs pos="100000">
                    <a:srgbClr val="33CD91">
                      <a:alpha val="70000"/>
                    </a:srgbClr>
                  </a:gs>
                </a:gsLst>
                <a:lin ang="0"/>
              </a:gradFill>
              <a:ln w="47625" cap="rnd">
                <a:solidFill>
                  <a:srgbClr val="BEC2C7">
                    <a:alpha val="69804"/>
                  </a:srgbClr>
                </a:solidFill>
                <a:prstDash val="solid"/>
                <a:round/>
              </a:ln>
            </p:spPr>
          </p:sp>
          <p:sp>
            <p:nvSpPr>
              <p:cNvPr name="TextBox 13" id="13"/>
              <p:cNvSpPr txBox="true"/>
              <p:nvPr/>
            </p:nvSpPr>
            <p:spPr>
              <a:xfrm>
                <a:off x="0" y="-47625"/>
                <a:ext cx="1889118" cy="820611"/>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597632" y="1235637"/>
              <a:ext cx="8368393" cy="2174448"/>
            </a:xfrm>
            <a:prstGeom prst="rect">
              <a:avLst/>
            </a:prstGeom>
          </p:spPr>
          <p:txBody>
            <a:bodyPr anchor="t" rtlCol="false" tIns="0" lIns="0" bIns="0" rIns="0">
              <a:spAutoFit/>
            </a:bodyPr>
            <a:lstStyle/>
            <a:p>
              <a:pPr algn="l">
                <a:lnSpc>
                  <a:spcPts val="2248"/>
                </a:lnSpc>
              </a:pPr>
              <a:r>
                <a:rPr lang="en-US" sz="1606">
                  <a:solidFill>
                    <a:srgbClr val="C3FFAB"/>
                  </a:solidFill>
                  <a:latin typeface="TT Hoves"/>
                  <a:ea typeface="TT Hoves"/>
                  <a:cs typeface="TT Hoves"/>
                  <a:sym typeface="TT Hoves"/>
                </a:rPr>
                <a:t>The Risk Probability Table (RPT) is a tool used in risk management to assess the likelihood or probability of different risks occurring in a project or business. Each risk is assigned a probability value, usually on a scale of 1 to 5, where 1 represents very low chance and 5 represents very high chance. RPT helps in systematically identifying risks and understanding how frequently they may occur.</a:t>
              </a:r>
            </a:p>
          </p:txBody>
        </p:sp>
        <p:sp>
          <p:nvSpPr>
            <p:cNvPr name="TextBox 15" id="15"/>
            <p:cNvSpPr txBox="true"/>
            <p:nvPr/>
          </p:nvSpPr>
          <p:spPr>
            <a:xfrm rot="0">
              <a:off x="597632" y="310182"/>
              <a:ext cx="6113047" cy="890058"/>
            </a:xfrm>
            <a:prstGeom prst="rect">
              <a:avLst/>
            </a:prstGeom>
          </p:spPr>
          <p:txBody>
            <a:bodyPr anchor="t" rtlCol="false" tIns="0" lIns="0" bIns="0" rIns="0">
              <a:spAutoFit/>
            </a:bodyPr>
            <a:lstStyle/>
            <a:p>
              <a:pPr algn="l">
                <a:lnSpc>
                  <a:spcPts val="5600"/>
                </a:lnSpc>
              </a:pPr>
              <a:r>
                <a:rPr lang="en-US" sz="4000" b="true">
                  <a:gradFill>
                    <a:gsLst>
                      <a:gs pos="0">
                        <a:srgbClr val="FFFFFF">
                          <a:alpha val="100000"/>
                        </a:srgbClr>
                      </a:gs>
                      <a:gs pos="100000">
                        <a:srgbClr val="37CC73">
                          <a:alpha val="100000"/>
                        </a:srgbClr>
                      </a:gs>
                    </a:gsLst>
                    <a:lin ang="0"/>
                  </a:gradFill>
                  <a:latin typeface="TT Hoves Bold"/>
                  <a:ea typeface="TT Hoves Bold"/>
                  <a:cs typeface="TT Hoves Bold"/>
                  <a:sym typeface="TT Hoves Bold"/>
                </a:rPr>
                <a:t>RPT</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sp>
        <p:nvSpPr>
          <p:cNvPr name="Freeform 2" id="2"/>
          <p:cNvSpPr/>
          <p:nvPr/>
        </p:nvSpPr>
        <p:spPr>
          <a:xfrm flipH="false" flipV="false" rot="0">
            <a:off x="4616650" y="643862"/>
            <a:ext cx="9938959" cy="8999275"/>
          </a:xfrm>
          <a:custGeom>
            <a:avLst/>
            <a:gdLst/>
            <a:ahLst/>
            <a:cxnLst/>
            <a:rect r="r" b="b" t="t" l="l"/>
            <a:pathLst>
              <a:path h="8999275" w="9938959">
                <a:moveTo>
                  <a:pt x="0" y="0"/>
                </a:moveTo>
                <a:lnTo>
                  <a:pt x="9938959" y="0"/>
                </a:lnTo>
                <a:lnTo>
                  <a:pt x="9938959" y="8999276"/>
                </a:lnTo>
                <a:lnTo>
                  <a:pt x="0" y="8999276"/>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77139" y="2145318"/>
            <a:ext cx="5450359" cy="1832226"/>
            <a:chOff x="0" y="0"/>
            <a:chExt cx="1435486" cy="482562"/>
          </a:xfrm>
        </p:grpSpPr>
        <p:sp>
          <p:nvSpPr>
            <p:cNvPr name="Freeform 4" id="4"/>
            <p:cNvSpPr/>
            <p:nvPr/>
          </p:nvSpPr>
          <p:spPr>
            <a:xfrm flipH="false" flipV="false" rot="0">
              <a:off x="0" y="0"/>
              <a:ext cx="1435486" cy="482562"/>
            </a:xfrm>
            <a:custGeom>
              <a:avLst/>
              <a:gdLst/>
              <a:ahLst/>
              <a:cxnLst/>
              <a:rect r="r" b="b" t="t" l="l"/>
              <a:pathLst>
                <a:path h="482562" w="1435486">
                  <a:moveTo>
                    <a:pt x="32670" y="0"/>
                  </a:moveTo>
                  <a:lnTo>
                    <a:pt x="1402815" y="0"/>
                  </a:lnTo>
                  <a:cubicBezTo>
                    <a:pt x="1411480" y="0"/>
                    <a:pt x="1419790" y="3442"/>
                    <a:pt x="1425917" y="9569"/>
                  </a:cubicBezTo>
                  <a:cubicBezTo>
                    <a:pt x="1432044" y="15696"/>
                    <a:pt x="1435486" y="24006"/>
                    <a:pt x="1435486" y="32670"/>
                  </a:cubicBezTo>
                  <a:lnTo>
                    <a:pt x="1435486" y="449891"/>
                  </a:lnTo>
                  <a:cubicBezTo>
                    <a:pt x="1435486" y="458556"/>
                    <a:pt x="1432044" y="466866"/>
                    <a:pt x="1425917" y="472993"/>
                  </a:cubicBezTo>
                  <a:cubicBezTo>
                    <a:pt x="1419790" y="479119"/>
                    <a:pt x="1411480" y="482562"/>
                    <a:pt x="1402815" y="482562"/>
                  </a:cubicBezTo>
                  <a:lnTo>
                    <a:pt x="32670" y="482562"/>
                  </a:lnTo>
                  <a:cubicBezTo>
                    <a:pt x="24006" y="482562"/>
                    <a:pt x="15696" y="479119"/>
                    <a:pt x="9569" y="472993"/>
                  </a:cubicBezTo>
                  <a:cubicBezTo>
                    <a:pt x="3442" y="466866"/>
                    <a:pt x="0" y="458556"/>
                    <a:pt x="0" y="449891"/>
                  </a:cubicBezTo>
                  <a:lnTo>
                    <a:pt x="0" y="32670"/>
                  </a:lnTo>
                  <a:cubicBezTo>
                    <a:pt x="0" y="24006"/>
                    <a:pt x="3442" y="15696"/>
                    <a:pt x="9569" y="9569"/>
                  </a:cubicBezTo>
                  <a:cubicBezTo>
                    <a:pt x="15696" y="3442"/>
                    <a:pt x="24006" y="0"/>
                    <a:pt x="32670" y="0"/>
                  </a:cubicBezTo>
                  <a:close/>
                </a:path>
              </a:pathLst>
            </a:custGeom>
            <a:solidFill>
              <a:srgbClr val="141A1F">
                <a:alpha val="81961"/>
              </a:srgbClr>
            </a:solidFill>
            <a:ln w="47625" cap="rnd">
              <a:solidFill>
                <a:srgbClr val="BEC2C7">
                  <a:alpha val="81961"/>
                </a:srgbClr>
              </a:solidFill>
              <a:prstDash val="solid"/>
              <a:round/>
            </a:ln>
          </p:spPr>
        </p:sp>
        <p:sp>
          <p:nvSpPr>
            <p:cNvPr name="TextBox 5" id="5"/>
            <p:cNvSpPr txBox="true"/>
            <p:nvPr/>
          </p:nvSpPr>
          <p:spPr>
            <a:xfrm>
              <a:off x="0" y="-47625"/>
              <a:ext cx="1435486" cy="530187"/>
            </a:xfrm>
            <a:prstGeom prst="rect">
              <a:avLst/>
            </a:prstGeom>
          </p:spPr>
          <p:txBody>
            <a:bodyPr anchor="ctr" rtlCol="false" tIns="50800" lIns="50800" bIns="50800" rIns="50800"/>
            <a:lstStyle/>
            <a:p>
              <a:pPr algn="ctr">
                <a:lnSpc>
                  <a:spcPts val="3079"/>
                </a:lnSpc>
                <a:spcBef>
                  <a:spcPct val="0"/>
                </a:spcBef>
              </a:pPr>
              <a:r>
                <a:rPr lang="en-US" sz="2199">
                  <a:solidFill>
                    <a:srgbClr val="CFFFBB">
                      <a:alpha val="81961"/>
                    </a:srgbClr>
                  </a:solidFill>
                  <a:latin typeface="TT Hoves"/>
                  <a:ea typeface="TT Hoves"/>
                  <a:cs typeface="TT Hoves"/>
                  <a:sym typeface="TT Hoves"/>
                </a:rPr>
                <a:t>Market Volatility</a:t>
              </a:r>
            </a:p>
          </p:txBody>
        </p:sp>
      </p:grpSp>
      <p:sp>
        <p:nvSpPr>
          <p:cNvPr name="TextBox 6" id="6"/>
          <p:cNvSpPr txBox="true"/>
          <p:nvPr/>
        </p:nvSpPr>
        <p:spPr>
          <a:xfrm rot="0">
            <a:off x="1028700" y="1083945"/>
            <a:ext cx="7083553" cy="811530"/>
          </a:xfrm>
          <a:prstGeom prst="rect">
            <a:avLst/>
          </a:prstGeom>
        </p:spPr>
        <p:txBody>
          <a:bodyPr anchor="t" rtlCol="false" tIns="0" lIns="0" bIns="0" rIns="0">
            <a:spAutoFit/>
          </a:bodyPr>
          <a:lstStyle/>
          <a:p>
            <a:pPr algn="l">
              <a:lnSpc>
                <a:spcPts val="6719"/>
              </a:lnSpc>
            </a:pPr>
            <a:r>
              <a:rPr lang="en-US" sz="4800" b="true">
                <a:solidFill>
                  <a:srgbClr val="CFFFBB"/>
                </a:solidFill>
                <a:latin typeface="TT Hoves Bold"/>
                <a:ea typeface="TT Hoves Bold"/>
                <a:cs typeface="TT Hoves Bold"/>
                <a:sym typeface="TT Hoves Bold"/>
              </a:rPr>
              <a:t>TYPES OF RISK</a:t>
            </a:r>
          </a:p>
        </p:txBody>
      </p:sp>
      <p:grpSp>
        <p:nvGrpSpPr>
          <p:cNvPr name="Group 7" id="7"/>
          <p:cNvGrpSpPr/>
          <p:nvPr/>
        </p:nvGrpSpPr>
        <p:grpSpPr>
          <a:xfrm rot="0">
            <a:off x="677139" y="4227387"/>
            <a:ext cx="5450359" cy="1832226"/>
            <a:chOff x="0" y="0"/>
            <a:chExt cx="1435486" cy="482562"/>
          </a:xfrm>
        </p:grpSpPr>
        <p:sp>
          <p:nvSpPr>
            <p:cNvPr name="Freeform 8" id="8"/>
            <p:cNvSpPr/>
            <p:nvPr/>
          </p:nvSpPr>
          <p:spPr>
            <a:xfrm flipH="false" flipV="false" rot="0">
              <a:off x="0" y="0"/>
              <a:ext cx="1435486" cy="482562"/>
            </a:xfrm>
            <a:custGeom>
              <a:avLst/>
              <a:gdLst/>
              <a:ahLst/>
              <a:cxnLst/>
              <a:rect r="r" b="b" t="t" l="l"/>
              <a:pathLst>
                <a:path h="482562" w="1435486">
                  <a:moveTo>
                    <a:pt x="32670" y="0"/>
                  </a:moveTo>
                  <a:lnTo>
                    <a:pt x="1402815" y="0"/>
                  </a:lnTo>
                  <a:cubicBezTo>
                    <a:pt x="1411480" y="0"/>
                    <a:pt x="1419790" y="3442"/>
                    <a:pt x="1425917" y="9569"/>
                  </a:cubicBezTo>
                  <a:cubicBezTo>
                    <a:pt x="1432044" y="15696"/>
                    <a:pt x="1435486" y="24006"/>
                    <a:pt x="1435486" y="32670"/>
                  </a:cubicBezTo>
                  <a:lnTo>
                    <a:pt x="1435486" y="449891"/>
                  </a:lnTo>
                  <a:cubicBezTo>
                    <a:pt x="1435486" y="458556"/>
                    <a:pt x="1432044" y="466866"/>
                    <a:pt x="1425917" y="472993"/>
                  </a:cubicBezTo>
                  <a:cubicBezTo>
                    <a:pt x="1419790" y="479119"/>
                    <a:pt x="1411480" y="482562"/>
                    <a:pt x="1402815" y="482562"/>
                  </a:cubicBezTo>
                  <a:lnTo>
                    <a:pt x="32670" y="482562"/>
                  </a:lnTo>
                  <a:cubicBezTo>
                    <a:pt x="24006" y="482562"/>
                    <a:pt x="15696" y="479119"/>
                    <a:pt x="9569" y="472993"/>
                  </a:cubicBezTo>
                  <a:cubicBezTo>
                    <a:pt x="3442" y="466866"/>
                    <a:pt x="0" y="458556"/>
                    <a:pt x="0" y="449891"/>
                  </a:cubicBezTo>
                  <a:lnTo>
                    <a:pt x="0" y="32670"/>
                  </a:lnTo>
                  <a:cubicBezTo>
                    <a:pt x="0" y="24006"/>
                    <a:pt x="3442" y="15696"/>
                    <a:pt x="9569" y="9569"/>
                  </a:cubicBezTo>
                  <a:cubicBezTo>
                    <a:pt x="15696" y="3442"/>
                    <a:pt x="24006" y="0"/>
                    <a:pt x="32670" y="0"/>
                  </a:cubicBezTo>
                  <a:close/>
                </a:path>
              </a:pathLst>
            </a:custGeom>
            <a:solidFill>
              <a:srgbClr val="141A1F">
                <a:alpha val="81961"/>
              </a:srgbClr>
            </a:solidFill>
            <a:ln w="47625" cap="rnd">
              <a:solidFill>
                <a:srgbClr val="BEC2C7">
                  <a:alpha val="81961"/>
                </a:srgbClr>
              </a:solidFill>
              <a:prstDash val="solid"/>
              <a:round/>
            </a:ln>
          </p:spPr>
        </p:sp>
        <p:sp>
          <p:nvSpPr>
            <p:cNvPr name="TextBox 9" id="9"/>
            <p:cNvSpPr txBox="true"/>
            <p:nvPr/>
          </p:nvSpPr>
          <p:spPr>
            <a:xfrm>
              <a:off x="0" y="-47625"/>
              <a:ext cx="1435486" cy="530187"/>
            </a:xfrm>
            <a:prstGeom prst="rect">
              <a:avLst/>
            </a:prstGeom>
          </p:spPr>
          <p:txBody>
            <a:bodyPr anchor="ctr" rtlCol="false" tIns="50800" lIns="50800" bIns="50800" rIns="50800"/>
            <a:lstStyle/>
            <a:p>
              <a:pPr algn="ctr">
                <a:lnSpc>
                  <a:spcPts val="3079"/>
                </a:lnSpc>
                <a:spcBef>
                  <a:spcPct val="0"/>
                </a:spcBef>
              </a:pPr>
              <a:r>
                <a:rPr lang="en-US" sz="2199">
                  <a:solidFill>
                    <a:srgbClr val="CFFFBB">
                      <a:alpha val="81961"/>
                    </a:srgbClr>
                  </a:solidFill>
                  <a:latin typeface="TT Hoves"/>
                  <a:ea typeface="TT Hoves"/>
                  <a:cs typeface="TT Hoves"/>
                  <a:sym typeface="TT Hoves"/>
                </a:rPr>
                <a:t>Technical Indicator Failure</a:t>
              </a:r>
            </a:p>
          </p:txBody>
        </p:sp>
      </p:grpSp>
      <p:grpSp>
        <p:nvGrpSpPr>
          <p:cNvPr name="Group 10" id="10"/>
          <p:cNvGrpSpPr/>
          <p:nvPr/>
        </p:nvGrpSpPr>
        <p:grpSpPr>
          <a:xfrm rot="0">
            <a:off x="6608079" y="2145318"/>
            <a:ext cx="5450359" cy="1832226"/>
            <a:chOff x="0" y="0"/>
            <a:chExt cx="1435486" cy="482562"/>
          </a:xfrm>
        </p:grpSpPr>
        <p:sp>
          <p:nvSpPr>
            <p:cNvPr name="Freeform 11" id="11"/>
            <p:cNvSpPr/>
            <p:nvPr/>
          </p:nvSpPr>
          <p:spPr>
            <a:xfrm flipH="false" flipV="false" rot="0">
              <a:off x="0" y="0"/>
              <a:ext cx="1435486" cy="482562"/>
            </a:xfrm>
            <a:custGeom>
              <a:avLst/>
              <a:gdLst/>
              <a:ahLst/>
              <a:cxnLst/>
              <a:rect r="r" b="b" t="t" l="l"/>
              <a:pathLst>
                <a:path h="482562" w="1435486">
                  <a:moveTo>
                    <a:pt x="32670" y="0"/>
                  </a:moveTo>
                  <a:lnTo>
                    <a:pt x="1402815" y="0"/>
                  </a:lnTo>
                  <a:cubicBezTo>
                    <a:pt x="1411480" y="0"/>
                    <a:pt x="1419790" y="3442"/>
                    <a:pt x="1425917" y="9569"/>
                  </a:cubicBezTo>
                  <a:cubicBezTo>
                    <a:pt x="1432044" y="15696"/>
                    <a:pt x="1435486" y="24006"/>
                    <a:pt x="1435486" y="32670"/>
                  </a:cubicBezTo>
                  <a:lnTo>
                    <a:pt x="1435486" y="449891"/>
                  </a:lnTo>
                  <a:cubicBezTo>
                    <a:pt x="1435486" y="458556"/>
                    <a:pt x="1432044" y="466866"/>
                    <a:pt x="1425917" y="472993"/>
                  </a:cubicBezTo>
                  <a:cubicBezTo>
                    <a:pt x="1419790" y="479119"/>
                    <a:pt x="1411480" y="482562"/>
                    <a:pt x="1402815" y="482562"/>
                  </a:cubicBezTo>
                  <a:lnTo>
                    <a:pt x="32670" y="482562"/>
                  </a:lnTo>
                  <a:cubicBezTo>
                    <a:pt x="24006" y="482562"/>
                    <a:pt x="15696" y="479119"/>
                    <a:pt x="9569" y="472993"/>
                  </a:cubicBezTo>
                  <a:cubicBezTo>
                    <a:pt x="3442" y="466866"/>
                    <a:pt x="0" y="458556"/>
                    <a:pt x="0" y="449891"/>
                  </a:cubicBezTo>
                  <a:lnTo>
                    <a:pt x="0" y="32670"/>
                  </a:lnTo>
                  <a:cubicBezTo>
                    <a:pt x="0" y="24006"/>
                    <a:pt x="3442" y="15696"/>
                    <a:pt x="9569" y="9569"/>
                  </a:cubicBezTo>
                  <a:cubicBezTo>
                    <a:pt x="15696" y="3442"/>
                    <a:pt x="24006" y="0"/>
                    <a:pt x="32670" y="0"/>
                  </a:cubicBezTo>
                  <a:close/>
                </a:path>
              </a:pathLst>
            </a:custGeom>
            <a:solidFill>
              <a:srgbClr val="141A1F">
                <a:alpha val="81961"/>
              </a:srgbClr>
            </a:solidFill>
            <a:ln w="47625" cap="rnd">
              <a:solidFill>
                <a:srgbClr val="BEC2C7">
                  <a:alpha val="81961"/>
                </a:srgbClr>
              </a:solidFill>
              <a:prstDash val="solid"/>
              <a:round/>
            </a:ln>
          </p:spPr>
        </p:sp>
        <p:sp>
          <p:nvSpPr>
            <p:cNvPr name="TextBox 12" id="12"/>
            <p:cNvSpPr txBox="true"/>
            <p:nvPr/>
          </p:nvSpPr>
          <p:spPr>
            <a:xfrm>
              <a:off x="0" y="-47625"/>
              <a:ext cx="1435486" cy="530187"/>
            </a:xfrm>
            <a:prstGeom prst="rect">
              <a:avLst/>
            </a:prstGeom>
          </p:spPr>
          <p:txBody>
            <a:bodyPr anchor="ctr" rtlCol="false" tIns="50800" lIns="50800" bIns="50800" rIns="50800"/>
            <a:lstStyle/>
            <a:p>
              <a:pPr algn="ctr">
                <a:lnSpc>
                  <a:spcPts val="3079"/>
                </a:lnSpc>
                <a:spcBef>
                  <a:spcPct val="0"/>
                </a:spcBef>
              </a:pPr>
              <a:r>
                <a:rPr lang="en-US" sz="2199">
                  <a:solidFill>
                    <a:srgbClr val="CFFFBB">
                      <a:alpha val="81961"/>
                    </a:srgbClr>
                  </a:solidFill>
                  <a:latin typeface="TT Hoves"/>
                  <a:ea typeface="TT Hoves"/>
                  <a:cs typeface="TT Hoves"/>
                  <a:sym typeface="TT Hoves"/>
                </a:rPr>
                <a:t>Poor Risk Management</a:t>
              </a:r>
            </a:p>
          </p:txBody>
        </p:sp>
      </p:grpSp>
      <p:grpSp>
        <p:nvGrpSpPr>
          <p:cNvPr name="Group 13" id="13"/>
          <p:cNvGrpSpPr/>
          <p:nvPr/>
        </p:nvGrpSpPr>
        <p:grpSpPr>
          <a:xfrm rot="0">
            <a:off x="6608079" y="4192356"/>
            <a:ext cx="5450359" cy="1832226"/>
            <a:chOff x="0" y="0"/>
            <a:chExt cx="1435486" cy="482562"/>
          </a:xfrm>
        </p:grpSpPr>
        <p:sp>
          <p:nvSpPr>
            <p:cNvPr name="Freeform 14" id="14"/>
            <p:cNvSpPr/>
            <p:nvPr/>
          </p:nvSpPr>
          <p:spPr>
            <a:xfrm flipH="false" flipV="false" rot="0">
              <a:off x="0" y="0"/>
              <a:ext cx="1435486" cy="482562"/>
            </a:xfrm>
            <a:custGeom>
              <a:avLst/>
              <a:gdLst/>
              <a:ahLst/>
              <a:cxnLst/>
              <a:rect r="r" b="b" t="t" l="l"/>
              <a:pathLst>
                <a:path h="482562" w="1435486">
                  <a:moveTo>
                    <a:pt x="32670" y="0"/>
                  </a:moveTo>
                  <a:lnTo>
                    <a:pt x="1402815" y="0"/>
                  </a:lnTo>
                  <a:cubicBezTo>
                    <a:pt x="1411480" y="0"/>
                    <a:pt x="1419790" y="3442"/>
                    <a:pt x="1425917" y="9569"/>
                  </a:cubicBezTo>
                  <a:cubicBezTo>
                    <a:pt x="1432044" y="15696"/>
                    <a:pt x="1435486" y="24006"/>
                    <a:pt x="1435486" y="32670"/>
                  </a:cubicBezTo>
                  <a:lnTo>
                    <a:pt x="1435486" y="449891"/>
                  </a:lnTo>
                  <a:cubicBezTo>
                    <a:pt x="1435486" y="458556"/>
                    <a:pt x="1432044" y="466866"/>
                    <a:pt x="1425917" y="472993"/>
                  </a:cubicBezTo>
                  <a:cubicBezTo>
                    <a:pt x="1419790" y="479119"/>
                    <a:pt x="1411480" y="482562"/>
                    <a:pt x="1402815" y="482562"/>
                  </a:cubicBezTo>
                  <a:lnTo>
                    <a:pt x="32670" y="482562"/>
                  </a:lnTo>
                  <a:cubicBezTo>
                    <a:pt x="24006" y="482562"/>
                    <a:pt x="15696" y="479119"/>
                    <a:pt x="9569" y="472993"/>
                  </a:cubicBezTo>
                  <a:cubicBezTo>
                    <a:pt x="3442" y="466866"/>
                    <a:pt x="0" y="458556"/>
                    <a:pt x="0" y="449891"/>
                  </a:cubicBezTo>
                  <a:lnTo>
                    <a:pt x="0" y="32670"/>
                  </a:lnTo>
                  <a:cubicBezTo>
                    <a:pt x="0" y="24006"/>
                    <a:pt x="3442" y="15696"/>
                    <a:pt x="9569" y="9569"/>
                  </a:cubicBezTo>
                  <a:cubicBezTo>
                    <a:pt x="15696" y="3442"/>
                    <a:pt x="24006" y="0"/>
                    <a:pt x="32670" y="0"/>
                  </a:cubicBezTo>
                  <a:close/>
                </a:path>
              </a:pathLst>
            </a:custGeom>
            <a:solidFill>
              <a:srgbClr val="141A1F">
                <a:alpha val="81961"/>
              </a:srgbClr>
            </a:solidFill>
            <a:ln w="47625" cap="rnd">
              <a:solidFill>
                <a:srgbClr val="BEC2C7">
                  <a:alpha val="81961"/>
                </a:srgbClr>
              </a:solidFill>
              <a:prstDash val="solid"/>
              <a:round/>
            </a:ln>
          </p:spPr>
        </p:sp>
        <p:sp>
          <p:nvSpPr>
            <p:cNvPr name="TextBox 15" id="15"/>
            <p:cNvSpPr txBox="true"/>
            <p:nvPr/>
          </p:nvSpPr>
          <p:spPr>
            <a:xfrm>
              <a:off x="0" y="-47625"/>
              <a:ext cx="1435486" cy="530187"/>
            </a:xfrm>
            <a:prstGeom prst="rect">
              <a:avLst/>
            </a:prstGeom>
          </p:spPr>
          <p:txBody>
            <a:bodyPr anchor="ctr" rtlCol="false" tIns="50800" lIns="50800" bIns="50800" rIns="50800"/>
            <a:lstStyle/>
            <a:p>
              <a:pPr algn="ctr">
                <a:lnSpc>
                  <a:spcPts val="3079"/>
                </a:lnSpc>
                <a:spcBef>
                  <a:spcPct val="0"/>
                </a:spcBef>
              </a:pPr>
              <a:r>
                <a:rPr lang="en-US" sz="2199">
                  <a:solidFill>
                    <a:srgbClr val="CFFFBB">
                      <a:alpha val="81961"/>
                    </a:srgbClr>
                  </a:solidFill>
                  <a:latin typeface="TT Hoves"/>
                  <a:ea typeface="TT Hoves"/>
                  <a:cs typeface="TT Hoves"/>
                  <a:sym typeface="TT Hoves"/>
                </a:rPr>
                <a:t>Incorrect Entry Timing</a:t>
              </a:r>
            </a:p>
          </p:txBody>
        </p:sp>
      </p:grpSp>
      <p:grpSp>
        <p:nvGrpSpPr>
          <p:cNvPr name="Group 16" id="16"/>
          <p:cNvGrpSpPr/>
          <p:nvPr/>
        </p:nvGrpSpPr>
        <p:grpSpPr>
          <a:xfrm rot="0">
            <a:off x="12448160" y="2145318"/>
            <a:ext cx="5450359" cy="1832226"/>
            <a:chOff x="0" y="0"/>
            <a:chExt cx="1435486" cy="482562"/>
          </a:xfrm>
        </p:grpSpPr>
        <p:sp>
          <p:nvSpPr>
            <p:cNvPr name="Freeform 17" id="17"/>
            <p:cNvSpPr/>
            <p:nvPr/>
          </p:nvSpPr>
          <p:spPr>
            <a:xfrm flipH="false" flipV="false" rot="0">
              <a:off x="0" y="0"/>
              <a:ext cx="1435486" cy="482562"/>
            </a:xfrm>
            <a:custGeom>
              <a:avLst/>
              <a:gdLst/>
              <a:ahLst/>
              <a:cxnLst/>
              <a:rect r="r" b="b" t="t" l="l"/>
              <a:pathLst>
                <a:path h="482562" w="1435486">
                  <a:moveTo>
                    <a:pt x="32670" y="0"/>
                  </a:moveTo>
                  <a:lnTo>
                    <a:pt x="1402815" y="0"/>
                  </a:lnTo>
                  <a:cubicBezTo>
                    <a:pt x="1411480" y="0"/>
                    <a:pt x="1419790" y="3442"/>
                    <a:pt x="1425917" y="9569"/>
                  </a:cubicBezTo>
                  <a:cubicBezTo>
                    <a:pt x="1432044" y="15696"/>
                    <a:pt x="1435486" y="24006"/>
                    <a:pt x="1435486" y="32670"/>
                  </a:cubicBezTo>
                  <a:lnTo>
                    <a:pt x="1435486" y="449891"/>
                  </a:lnTo>
                  <a:cubicBezTo>
                    <a:pt x="1435486" y="458556"/>
                    <a:pt x="1432044" y="466866"/>
                    <a:pt x="1425917" y="472993"/>
                  </a:cubicBezTo>
                  <a:cubicBezTo>
                    <a:pt x="1419790" y="479119"/>
                    <a:pt x="1411480" y="482562"/>
                    <a:pt x="1402815" y="482562"/>
                  </a:cubicBezTo>
                  <a:lnTo>
                    <a:pt x="32670" y="482562"/>
                  </a:lnTo>
                  <a:cubicBezTo>
                    <a:pt x="24006" y="482562"/>
                    <a:pt x="15696" y="479119"/>
                    <a:pt x="9569" y="472993"/>
                  </a:cubicBezTo>
                  <a:cubicBezTo>
                    <a:pt x="3442" y="466866"/>
                    <a:pt x="0" y="458556"/>
                    <a:pt x="0" y="449891"/>
                  </a:cubicBezTo>
                  <a:lnTo>
                    <a:pt x="0" y="32670"/>
                  </a:lnTo>
                  <a:cubicBezTo>
                    <a:pt x="0" y="24006"/>
                    <a:pt x="3442" y="15696"/>
                    <a:pt x="9569" y="9569"/>
                  </a:cubicBezTo>
                  <a:cubicBezTo>
                    <a:pt x="15696" y="3442"/>
                    <a:pt x="24006" y="0"/>
                    <a:pt x="32670" y="0"/>
                  </a:cubicBezTo>
                  <a:close/>
                </a:path>
              </a:pathLst>
            </a:custGeom>
            <a:solidFill>
              <a:srgbClr val="141A1F">
                <a:alpha val="81961"/>
              </a:srgbClr>
            </a:solidFill>
            <a:ln w="47625" cap="rnd">
              <a:solidFill>
                <a:srgbClr val="BEC2C7">
                  <a:alpha val="81961"/>
                </a:srgbClr>
              </a:solidFill>
              <a:prstDash val="solid"/>
              <a:round/>
            </a:ln>
          </p:spPr>
        </p:sp>
        <p:sp>
          <p:nvSpPr>
            <p:cNvPr name="TextBox 18" id="18"/>
            <p:cNvSpPr txBox="true"/>
            <p:nvPr/>
          </p:nvSpPr>
          <p:spPr>
            <a:xfrm>
              <a:off x="0" y="-47625"/>
              <a:ext cx="1435486" cy="530187"/>
            </a:xfrm>
            <a:prstGeom prst="rect">
              <a:avLst/>
            </a:prstGeom>
          </p:spPr>
          <p:txBody>
            <a:bodyPr anchor="ctr" rtlCol="false" tIns="50800" lIns="50800" bIns="50800" rIns="50800"/>
            <a:lstStyle/>
            <a:p>
              <a:pPr algn="ctr">
                <a:lnSpc>
                  <a:spcPts val="3079"/>
                </a:lnSpc>
                <a:spcBef>
                  <a:spcPct val="0"/>
                </a:spcBef>
              </a:pPr>
              <a:r>
                <a:rPr lang="en-US" sz="2199">
                  <a:solidFill>
                    <a:srgbClr val="CFFFBB">
                      <a:alpha val="81961"/>
                    </a:srgbClr>
                  </a:solidFill>
                  <a:latin typeface="TT Hoves"/>
                  <a:ea typeface="TT Hoves"/>
                  <a:cs typeface="TT Hoves"/>
                  <a:sym typeface="TT Hoves"/>
                </a:rPr>
                <a:t>Emotional Decision Making</a:t>
              </a:r>
            </a:p>
          </p:txBody>
        </p:sp>
      </p:grpSp>
      <p:grpSp>
        <p:nvGrpSpPr>
          <p:cNvPr name="Group 19" id="19"/>
          <p:cNvGrpSpPr/>
          <p:nvPr/>
        </p:nvGrpSpPr>
        <p:grpSpPr>
          <a:xfrm rot="0">
            <a:off x="12448160" y="4192356"/>
            <a:ext cx="5450359" cy="1832226"/>
            <a:chOff x="0" y="0"/>
            <a:chExt cx="1435486" cy="482562"/>
          </a:xfrm>
        </p:grpSpPr>
        <p:sp>
          <p:nvSpPr>
            <p:cNvPr name="Freeform 20" id="20"/>
            <p:cNvSpPr/>
            <p:nvPr/>
          </p:nvSpPr>
          <p:spPr>
            <a:xfrm flipH="false" flipV="false" rot="0">
              <a:off x="0" y="0"/>
              <a:ext cx="1435486" cy="482562"/>
            </a:xfrm>
            <a:custGeom>
              <a:avLst/>
              <a:gdLst/>
              <a:ahLst/>
              <a:cxnLst/>
              <a:rect r="r" b="b" t="t" l="l"/>
              <a:pathLst>
                <a:path h="482562" w="1435486">
                  <a:moveTo>
                    <a:pt x="32670" y="0"/>
                  </a:moveTo>
                  <a:lnTo>
                    <a:pt x="1402815" y="0"/>
                  </a:lnTo>
                  <a:cubicBezTo>
                    <a:pt x="1411480" y="0"/>
                    <a:pt x="1419790" y="3442"/>
                    <a:pt x="1425917" y="9569"/>
                  </a:cubicBezTo>
                  <a:cubicBezTo>
                    <a:pt x="1432044" y="15696"/>
                    <a:pt x="1435486" y="24006"/>
                    <a:pt x="1435486" y="32670"/>
                  </a:cubicBezTo>
                  <a:lnTo>
                    <a:pt x="1435486" y="449891"/>
                  </a:lnTo>
                  <a:cubicBezTo>
                    <a:pt x="1435486" y="458556"/>
                    <a:pt x="1432044" y="466866"/>
                    <a:pt x="1425917" y="472993"/>
                  </a:cubicBezTo>
                  <a:cubicBezTo>
                    <a:pt x="1419790" y="479119"/>
                    <a:pt x="1411480" y="482562"/>
                    <a:pt x="1402815" y="482562"/>
                  </a:cubicBezTo>
                  <a:lnTo>
                    <a:pt x="32670" y="482562"/>
                  </a:lnTo>
                  <a:cubicBezTo>
                    <a:pt x="24006" y="482562"/>
                    <a:pt x="15696" y="479119"/>
                    <a:pt x="9569" y="472993"/>
                  </a:cubicBezTo>
                  <a:cubicBezTo>
                    <a:pt x="3442" y="466866"/>
                    <a:pt x="0" y="458556"/>
                    <a:pt x="0" y="449891"/>
                  </a:cubicBezTo>
                  <a:lnTo>
                    <a:pt x="0" y="32670"/>
                  </a:lnTo>
                  <a:cubicBezTo>
                    <a:pt x="0" y="24006"/>
                    <a:pt x="3442" y="15696"/>
                    <a:pt x="9569" y="9569"/>
                  </a:cubicBezTo>
                  <a:cubicBezTo>
                    <a:pt x="15696" y="3442"/>
                    <a:pt x="24006" y="0"/>
                    <a:pt x="32670" y="0"/>
                  </a:cubicBezTo>
                  <a:close/>
                </a:path>
              </a:pathLst>
            </a:custGeom>
            <a:solidFill>
              <a:srgbClr val="141A1F">
                <a:alpha val="81961"/>
              </a:srgbClr>
            </a:solidFill>
            <a:ln w="47625" cap="rnd">
              <a:solidFill>
                <a:srgbClr val="BEC2C7">
                  <a:alpha val="81961"/>
                </a:srgbClr>
              </a:solidFill>
              <a:prstDash val="solid"/>
              <a:round/>
            </a:ln>
          </p:spPr>
        </p:sp>
        <p:sp>
          <p:nvSpPr>
            <p:cNvPr name="TextBox 21" id="21"/>
            <p:cNvSpPr txBox="true"/>
            <p:nvPr/>
          </p:nvSpPr>
          <p:spPr>
            <a:xfrm>
              <a:off x="0" y="-47625"/>
              <a:ext cx="1435486" cy="530187"/>
            </a:xfrm>
            <a:prstGeom prst="rect">
              <a:avLst/>
            </a:prstGeom>
          </p:spPr>
          <p:txBody>
            <a:bodyPr anchor="ctr" rtlCol="false" tIns="50800" lIns="50800" bIns="50800" rIns="50800"/>
            <a:lstStyle/>
            <a:p>
              <a:pPr algn="ctr">
                <a:lnSpc>
                  <a:spcPts val="3079"/>
                </a:lnSpc>
                <a:spcBef>
                  <a:spcPct val="0"/>
                </a:spcBef>
              </a:pPr>
              <a:r>
                <a:rPr lang="en-US" sz="2199">
                  <a:solidFill>
                    <a:srgbClr val="CFFFBB">
                      <a:alpha val="81961"/>
                    </a:srgbClr>
                  </a:solidFill>
                  <a:latin typeface="TT Hoves"/>
                  <a:ea typeface="TT Hoves"/>
                  <a:cs typeface="TT Hoves"/>
                  <a:sym typeface="TT Hoves"/>
                </a:rPr>
                <a:t>Sudden News or Events</a:t>
              </a:r>
            </a:p>
          </p:txBody>
        </p:sp>
      </p:grpSp>
      <p:grpSp>
        <p:nvGrpSpPr>
          <p:cNvPr name="Group 22" id="22"/>
          <p:cNvGrpSpPr/>
          <p:nvPr/>
        </p:nvGrpSpPr>
        <p:grpSpPr>
          <a:xfrm rot="0">
            <a:off x="12559513" y="6239395"/>
            <a:ext cx="5339006" cy="1832226"/>
            <a:chOff x="0" y="0"/>
            <a:chExt cx="1406158" cy="482562"/>
          </a:xfrm>
        </p:grpSpPr>
        <p:sp>
          <p:nvSpPr>
            <p:cNvPr name="Freeform 23" id="23"/>
            <p:cNvSpPr/>
            <p:nvPr/>
          </p:nvSpPr>
          <p:spPr>
            <a:xfrm flipH="false" flipV="false" rot="0">
              <a:off x="0" y="0"/>
              <a:ext cx="1406158" cy="482562"/>
            </a:xfrm>
            <a:custGeom>
              <a:avLst/>
              <a:gdLst/>
              <a:ahLst/>
              <a:cxnLst/>
              <a:rect r="r" b="b" t="t" l="l"/>
              <a:pathLst>
                <a:path h="482562" w="1406158">
                  <a:moveTo>
                    <a:pt x="33352" y="0"/>
                  </a:moveTo>
                  <a:lnTo>
                    <a:pt x="1372806" y="0"/>
                  </a:lnTo>
                  <a:cubicBezTo>
                    <a:pt x="1391226" y="0"/>
                    <a:pt x="1406158" y="14932"/>
                    <a:pt x="1406158" y="33352"/>
                  </a:cubicBezTo>
                  <a:lnTo>
                    <a:pt x="1406158" y="449210"/>
                  </a:lnTo>
                  <a:cubicBezTo>
                    <a:pt x="1406158" y="458055"/>
                    <a:pt x="1402644" y="466538"/>
                    <a:pt x="1396389" y="472793"/>
                  </a:cubicBezTo>
                  <a:cubicBezTo>
                    <a:pt x="1390135" y="479048"/>
                    <a:pt x="1381652" y="482562"/>
                    <a:pt x="1372806" y="482562"/>
                  </a:cubicBezTo>
                  <a:lnTo>
                    <a:pt x="33352" y="482562"/>
                  </a:lnTo>
                  <a:cubicBezTo>
                    <a:pt x="14932" y="482562"/>
                    <a:pt x="0" y="467630"/>
                    <a:pt x="0" y="449210"/>
                  </a:cubicBezTo>
                  <a:lnTo>
                    <a:pt x="0" y="33352"/>
                  </a:lnTo>
                  <a:cubicBezTo>
                    <a:pt x="0" y="14932"/>
                    <a:pt x="14932" y="0"/>
                    <a:pt x="33352" y="0"/>
                  </a:cubicBezTo>
                  <a:close/>
                </a:path>
              </a:pathLst>
            </a:custGeom>
            <a:solidFill>
              <a:srgbClr val="141A1F">
                <a:alpha val="81961"/>
              </a:srgbClr>
            </a:solidFill>
            <a:ln w="47625" cap="rnd">
              <a:solidFill>
                <a:srgbClr val="BEC2C7">
                  <a:alpha val="81961"/>
                </a:srgbClr>
              </a:solidFill>
              <a:prstDash val="solid"/>
              <a:round/>
            </a:ln>
          </p:spPr>
        </p:sp>
        <p:sp>
          <p:nvSpPr>
            <p:cNvPr name="TextBox 24" id="24"/>
            <p:cNvSpPr txBox="true"/>
            <p:nvPr/>
          </p:nvSpPr>
          <p:spPr>
            <a:xfrm>
              <a:off x="0" y="-47625"/>
              <a:ext cx="1406158" cy="530187"/>
            </a:xfrm>
            <a:prstGeom prst="rect">
              <a:avLst/>
            </a:prstGeom>
          </p:spPr>
          <p:txBody>
            <a:bodyPr anchor="ctr" rtlCol="false" tIns="50800" lIns="50800" bIns="50800" rIns="50800"/>
            <a:lstStyle/>
            <a:p>
              <a:pPr algn="ctr">
                <a:lnSpc>
                  <a:spcPts val="3079"/>
                </a:lnSpc>
                <a:spcBef>
                  <a:spcPct val="0"/>
                </a:spcBef>
              </a:pPr>
              <a:r>
                <a:rPr lang="en-US" sz="2199">
                  <a:solidFill>
                    <a:srgbClr val="CFFFBB">
                      <a:alpha val="81961"/>
                    </a:srgbClr>
                  </a:solidFill>
                  <a:latin typeface="TT Hoves"/>
                  <a:ea typeface="TT Hoves"/>
                  <a:cs typeface="TT Hoves"/>
                  <a:sym typeface="TT Hoves"/>
                </a:rPr>
                <a:t>Internet/System Failure</a:t>
              </a:r>
            </a:p>
          </p:txBody>
        </p:sp>
      </p:grpSp>
      <p:grpSp>
        <p:nvGrpSpPr>
          <p:cNvPr name="Group 25" id="25"/>
          <p:cNvGrpSpPr/>
          <p:nvPr/>
        </p:nvGrpSpPr>
        <p:grpSpPr>
          <a:xfrm rot="0">
            <a:off x="6608079" y="6239395"/>
            <a:ext cx="5450359" cy="1832226"/>
            <a:chOff x="0" y="0"/>
            <a:chExt cx="1435486" cy="482562"/>
          </a:xfrm>
        </p:grpSpPr>
        <p:sp>
          <p:nvSpPr>
            <p:cNvPr name="Freeform 26" id="26"/>
            <p:cNvSpPr/>
            <p:nvPr/>
          </p:nvSpPr>
          <p:spPr>
            <a:xfrm flipH="false" flipV="false" rot="0">
              <a:off x="0" y="0"/>
              <a:ext cx="1435486" cy="482562"/>
            </a:xfrm>
            <a:custGeom>
              <a:avLst/>
              <a:gdLst/>
              <a:ahLst/>
              <a:cxnLst/>
              <a:rect r="r" b="b" t="t" l="l"/>
              <a:pathLst>
                <a:path h="482562" w="1435486">
                  <a:moveTo>
                    <a:pt x="32670" y="0"/>
                  </a:moveTo>
                  <a:lnTo>
                    <a:pt x="1402815" y="0"/>
                  </a:lnTo>
                  <a:cubicBezTo>
                    <a:pt x="1411480" y="0"/>
                    <a:pt x="1419790" y="3442"/>
                    <a:pt x="1425917" y="9569"/>
                  </a:cubicBezTo>
                  <a:cubicBezTo>
                    <a:pt x="1432044" y="15696"/>
                    <a:pt x="1435486" y="24006"/>
                    <a:pt x="1435486" y="32670"/>
                  </a:cubicBezTo>
                  <a:lnTo>
                    <a:pt x="1435486" y="449891"/>
                  </a:lnTo>
                  <a:cubicBezTo>
                    <a:pt x="1435486" y="458556"/>
                    <a:pt x="1432044" y="466866"/>
                    <a:pt x="1425917" y="472993"/>
                  </a:cubicBezTo>
                  <a:cubicBezTo>
                    <a:pt x="1419790" y="479119"/>
                    <a:pt x="1411480" y="482562"/>
                    <a:pt x="1402815" y="482562"/>
                  </a:cubicBezTo>
                  <a:lnTo>
                    <a:pt x="32670" y="482562"/>
                  </a:lnTo>
                  <a:cubicBezTo>
                    <a:pt x="24006" y="482562"/>
                    <a:pt x="15696" y="479119"/>
                    <a:pt x="9569" y="472993"/>
                  </a:cubicBezTo>
                  <a:cubicBezTo>
                    <a:pt x="3442" y="466866"/>
                    <a:pt x="0" y="458556"/>
                    <a:pt x="0" y="449891"/>
                  </a:cubicBezTo>
                  <a:lnTo>
                    <a:pt x="0" y="32670"/>
                  </a:lnTo>
                  <a:cubicBezTo>
                    <a:pt x="0" y="24006"/>
                    <a:pt x="3442" y="15696"/>
                    <a:pt x="9569" y="9569"/>
                  </a:cubicBezTo>
                  <a:cubicBezTo>
                    <a:pt x="15696" y="3442"/>
                    <a:pt x="24006" y="0"/>
                    <a:pt x="32670" y="0"/>
                  </a:cubicBezTo>
                  <a:close/>
                </a:path>
              </a:pathLst>
            </a:custGeom>
            <a:solidFill>
              <a:srgbClr val="141A1F">
                <a:alpha val="81961"/>
              </a:srgbClr>
            </a:solidFill>
            <a:ln w="47625" cap="rnd">
              <a:solidFill>
                <a:srgbClr val="BEC2C7">
                  <a:alpha val="81961"/>
                </a:srgbClr>
              </a:solidFill>
              <a:prstDash val="solid"/>
              <a:round/>
            </a:ln>
          </p:spPr>
        </p:sp>
        <p:sp>
          <p:nvSpPr>
            <p:cNvPr name="TextBox 27" id="27"/>
            <p:cNvSpPr txBox="true"/>
            <p:nvPr/>
          </p:nvSpPr>
          <p:spPr>
            <a:xfrm>
              <a:off x="0" y="-47625"/>
              <a:ext cx="1435486" cy="530187"/>
            </a:xfrm>
            <a:prstGeom prst="rect">
              <a:avLst/>
            </a:prstGeom>
          </p:spPr>
          <p:txBody>
            <a:bodyPr anchor="ctr" rtlCol="false" tIns="50800" lIns="50800" bIns="50800" rIns="50800"/>
            <a:lstStyle/>
            <a:p>
              <a:pPr algn="ctr">
                <a:lnSpc>
                  <a:spcPts val="3079"/>
                </a:lnSpc>
                <a:spcBef>
                  <a:spcPct val="0"/>
                </a:spcBef>
              </a:pPr>
              <a:r>
                <a:rPr lang="en-US" sz="2199">
                  <a:solidFill>
                    <a:srgbClr val="CFFFBB">
                      <a:alpha val="81961"/>
                    </a:srgbClr>
                  </a:solidFill>
                  <a:latin typeface="TT Hoves"/>
                  <a:ea typeface="TT Hoves"/>
                  <a:cs typeface="TT Hoves"/>
                  <a:sym typeface="TT Hoves"/>
                </a:rPr>
                <a:t>Overleveraging</a:t>
              </a:r>
            </a:p>
          </p:txBody>
        </p:sp>
      </p:grpSp>
      <p:grpSp>
        <p:nvGrpSpPr>
          <p:cNvPr name="Group 28" id="28"/>
          <p:cNvGrpSpPr/>
          <p:nvPr/>
        </p:nvGrpSpPr>
        <p:grpSpPr>
          <a:xfrm rot="0">
            <a:off x="677139" y="6239395"/>
            <a:ext cx="5450359" cy="1832226"/>
            <a:chOff x="0" y="0"/>
            <a:chExt cx="1435486" cy="482562"/>
          </a:xfrm>
        </p:grpSpPr>
        <p:sp>
          <p:nvSpPr>
            <p:cNvPr name="Freeform 29" id="29"/>
            <p:cNvSpPr/>
            <p:nvPr/>
          </p:nvSpPr>
          <p:spPr>
            <a:xfrm flipH="false" flipV="false" rot="0">
              <a:off x="0" y="0"/>
              <a:ext cx="1435486" cy="482562"/>
            </a:xfrm>
            <a:custGeom>
              <a:avLst/>
              <a:gdLst/>
              <a:ahLst/>
              <a:cxnLst/>
              <a:rect r="r" b="b" t="t" l="l"/>
              <a:pathLst>
                <a:path h="482562" w="1435486">
                  <a:moveTo>
                    <a:pt x="32670" y="0"/>
                  </a:moveTo>
                  <a:lnTo>
                    <a:pt x="1402815" y="0"/>
                  </a:lnTo>
                  <a:cubicBezTo>
                    <a:pt x="1411480" y="0"/>
                    <a:pt x="1419790" y="3442"/>
                    <a:pt x="1425917" y="9569"/>
                  </a:cubicBezTo>
                  <a:cubicBezTo>
                    <a:pt x="1432044" y="15696"/>
                    <a:pt x="1435486" y="24006"/>
                    <a:pt x="1435486" y="32670"/>
                  </a:cubicBezTo>
                  <a:lnTo>
                    <a:pt x="1435486" y="449891"/>
                  </a:lnTo>
                  <a:cubicBezTo>
                    <a:pt x="1435486" y="458556"/>
                    <a:pt x="1432044" y="466866"/>
                    <a:pt x="1425917" y="472993"/>
                  </a:cubicBezTo>
                  <a:cubicBezTo>
                    <a:pt x="1419790" y="479119"/>
                    <a:pt x="1411480" y="482562"/>
                    <a:pt x="1402815" y="482562"/>
                  </a:cubicBezTo>
                  <a:lnTo>
                    <a:pt x="32670" y="482562"/>
                  </a:lnTo>
                  <a:cubicBezTo>
                    <a:pt x="24006" y="482562"/>
                    <a:pt x="15696" y="479119"/>
                    <a:pt x="9569" y="472993"/>
                  </a:cubicBezTo>
                  <a:cubicBezTo>
                    <a:pt x="3442" y="466866"/>
                    <a:pt x="0" y="458556"/>
                    <a:pt x="0" y="449891"/>
                  </a:cubicBezTo>
                  <a:lnTo>
                    <a:pt x="0" y="32670"/>
                  </a:lnTo>
                  <a:cubicBezTo>
                    <a:pt x="0" y="24006"/>
                    <a:pt x="3442" y="15696"/>
                    <a:pt x="9569" y="9569"/>
                  </a:cubicBezTo>
                  <a:cubicBezTo>
                    <a:pt x="15696" y="3442"/>
                    <a:pt x="24006" y="0"/>
                    <a:pt x="32670" y="0"/>
                  </a:cubicBezTo>
                  <a:close/>
                </a:path>
              </a:pathLst>
            </a:custGeom>
            <a:solidFill>
              <a:srgbClr val="141A1F">
                <a:alpha val="81961"/>
              </a:srgbClr>
            </a:solidFill>
            <a:ln w="47625" cap="rnd">
              <a:solidFill>
                <a:srgbClr val="BEC2C7">
                  <a:alpha val="81961"/>
                </a:srgbClr>
              </a:solidFill>
              <a:prstDash val="solid"/>
              <a:round/>
            </a:ln>
          </p:spPr>
        </p:sp>
        <p:sp>
          <p:nvSpPr>
            <p:cNvPr name="TextBox 30" id="30"/>
            <p:cNvSpPr txBox="true"/>
            <p:nvPr/>
          </p:nvSpPr>
          <p:spPr>
            <a:xfrm>
              <a:off x="0" y="-47625"/>
              <a:ext cx="1435486" cy="530187"/>
            </a:xfrm>
            <a:prstGeom prst="rect">
              <a:avLst/>
            </a:prstGeom>
          </p:spPr>
          <p:txBody>
            <a:bodyPr anchor="ctr" rtlCol="false" tIns="50800" lIns="50800" bIns="50800" rIns="50800"/>
            <a:lstStyle/>
            <a:p>
              <a:pPr algn="ctr">
                <a:lnSpc>
                  <a:spcPts val="3079"/>
                </a:lnSpc>
                <a:spcBef>
                  <a:spcPct val="0"/>
                </a:spcBef>
              </a:pPr>
              <a:r>
                <a:rPr lang="en-US" sz="2199">
                  <a:solidFill>
                    <a:srgbClr val="CFFFBB">
                      <a:alpha val="81961"/>
                    </a:srgbClr>
                  </a:solidFill>
                  <a:latin typeface="TT Hoves"/>
                  <a:ea typeface="TT Hoves"/>
                  <a:cs typeface="TT Hoves"/>
                  <a:sym typeface="TT Hoves"/>
                </a:rPr>
                <a:t>Liquidity Risk</a:t>
              </a:r>
            </a:p>
          </p:txBody>
        </p:sp>
      </p:grpSp>
      <p:grpSp>
        <p:nvGrpSpPr>
          <p:cNvPr name="Group 31" id="31"/>
          <p:cNvGrpSpPr/>
          <p:nvPr/>
        </p:nvGrpSpPr>
        <p:grpSpPr>
          <a:xfrm rot="0">
            <a:off x="4951476" y="8252596"/>
            <a:ext cx="9985132" cy="1746501"/>
            <a:chOff x="0" y="0"/>
            <a:chExt cx="2629829" cy="459984"/>
          </a:xfrm>
        </p:grpSpPr>
        <p:sp>
          <p:nvSpPr>
            <p:cNvPr name="Freeform 32" id="32"/>
            <p:cNvSpPr/>
            <p:nvPr/>
          </p:nvSpPr>
          <p:spPr>
            <a:xfrm flipH="false" flipV="false" rot="0">
              <a:off x="0" y="0"/>
              <a:ext cx="2629829" cy="459984"/>
            </a:xfrm>
            <a:custGeom>
              <a:avLst/>
              <a:gdLst/>
              <a:ahLst/>
              <a:cxnLst/>
              <a:rect r="r" b="b" t="t" l="l"/>
              <a:pathLst>
                <a:path h="459984" w="2629829">
                  <a:moveTo>
                    <a:pt x="17833" y="0"/>
                  </a:moveTo>
                  <a:lnTo>
                    <a:pt x="2611996" y="0"/>
                  </a:lnTo>
                  <a:cubicBezTo>
                    <a:pt x="2616726" y="0"/>
                    <a:pt x="2621262" y="1879"/>
                    <a:pt x="2624606" y="5223"/>
                  </a:cubicBezTo>
                  <a:cubicBezTo>
                    <a:pt x="2627950" y="8567"/>
                    <a:pt x="2629829" y="13103"/>
                    <a:pt x="2629829" y="17833"/>
                  </a:cubicBezTo>
                  <a:lnTo>
                    <a:pt x="2629829" y="442151"/>
                  </a:lnTo>
                  <a:cubicBezTo>
                    <a:pt x="2629829" y="446880"/>
                    <a:pt x="2627950" y="451416"/>
                    <a:pt x="2624606" y="454761"/>
                  </a:cubicBezTo>
                  <a:cubicBezTo>
                    <a:pt x="2621262" y="458105"/>
                    <a:pt x="2616726" y="459984"/>
                    <a:pt x="2611996" y="459984"/>
                  </a:cubicBezTo>
                  <a:lnTo>
                    <a:pt x="17833" y="459984"/>
                  </a:lnTo>
                  <a:cubicBezTo>
                    <a:pt x="13103" y="459984"/>
                    <a:pt x="8567" y="458105"/>
                    <a:pt x="5223" y="454761"/>
                  </a:cubicBezTo>
                  <a:cubicBezTo>
                    <a:pt x="1879" y="451416"/>
                    <a:pt x="0" y="446880"/>
                    <a:pt x="0" y="442151"/>
                  </a:cubicBezTo>
                  <a:lnTo>
                    <a:pt x="0" y="17833"/>
                  </a:lnTo>
                  <a:cubicBezTo>
                    <a:pt x="0" y="13103"/>
                    <a:pt x="1879" y="8567"/>
                    <a:pt x="5223" y="5223"/>
                  </a:cubicBezTo>
                  <a:cubicBezTo>
                    <a:pt x="8567" y="1879"/>
                    <a:pt x="13103" y="0"/>
                    <a:pt x="17833" y="0"/>
                  </a:cubicBezTo>
                  <a:close/>
                </a:path>
              </a:pathLst>
            </a:custGeom>
            <a:solidFill>
              <a:srgbClr val="141A1F">
                <a:alpha val="81961"/>
              </a:srgbClr>
            </a:solidFill>
            <a:ln w="47625" cap="rnd">
              <a:solidFill>
                <a:srgbClr val="BEC2C7">
                  <a:alpha val="81961"/>
                </a:srgbClr>
              </a:solidFill>
              <a:prstDash val="solid"/>
              <a:round/>
            </a:ln>
          </p:spPr>
        </p:sp>
        <p:sp>
          <p:nvSpPr>
            <p:cNvPr name="TextBox 33" id="33"/>
            <p:cNvSpPr txBox="true"/>
            <p:nvPr/>
          </p:nvSpPr>
          <p:spPr>
            <a:xfrm>
              <a:off x="0" y="-47625"/>
              <a:ext cx="2629829" cy="507609"/>
            </a:xfrm>
            <a:prstGeom prst="rect">
              <a:avLst/>
            </a:prstGeom>
          </p:spPr>
          <p:txBody>
            <a:bodyPr anchor="ctr" rtlCol="false" tIns="50800" lIns="50800" bIns="50800" rIns="50800"/>
            <a:lstStyle/>
            <a:p>
              <a:pPr algn="ctr">
                <a:lnSpc>
                  <a:spcPts val="3079"/>
                </a:lnSpc>
                <a:spcBef>
                  <a:spcPct val="0"/>
                </a:spcBef>
              </a:pPr>
              <a:r>
                <a:rPr lang="en-US" sz="2199">
                  <a:solidFill>
                    <a:srgbClr val="CFFFBB">
                      <a:alpha val="81961"/>
                    </a:srgbClr>
                  </a:solidFill>
                  <a:latin typeface="TT Hoves"/>
                  <a:ea typeface="TT Hoves"/>
                  <a:cs typeface="TT Hoves"/>
                  <a:sym typeface="TT Hoves"/>
                </a:rPr>
                <a:t>Regulatory Changes</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sp>
        <p:nvSpPr>
          <p:cNvPr name="Freeform 2" id="2"/>
          <p:cNvSpPr/>
          <p:nvPr/>
        </p:nvSpPr>
        <p:spPr>
          <a:xfrm flipH="false" flipV="false" rot="0">
            <a:off x="607863" y="2153132"/>
            <a:ext cx="13883463" cy="7496326"/>
          </a:xfrm>
          <a:custGeom>
            <a:avLst/>
            <a:gdLst/>
            <a:ahLst/>
            <a:cxnLst/>
            <a:rect r="r" b="b" t="t" l="l"/>
            <a:pathLst>
              <a:path h="7496326" w="13883463">
                <a:moveTo>
                  <a:pt x="0" y="0"/>
                </a:moveTo>
                <a:lnTo>
                  <a:pt x="13883462" y="0"/>
                </a:lnTo>
                <a:lnTo>
                  <a:pt x="13883462" y="7496326"/>
                </a:lnTo>
                <a:lnTo>
                  <a:pt x="0" y="7496326"/>
                </a:lnTo>
                <a:lnTo>
                  <a:pt x="0" y="0"/>
                </a:lnTo>
                <a:close/>
              </a:path>
            </a:pathLst>
          </a:custGeom>
          <a:blipFill>
            <a:blip r:embed="rId2"/>
            <a:stretch>
              <a:fillRect l="0" t="-5909" r="0" b="0"/>
            </a:stretch>
          </a:blipFill>
        </p:spPr>
      </p:sp>
      <p:grpSp>
        <p:nvGrpSpPr>
          <p:cNvPr name="Group 3" id="3"/>
          <p:cNvGrpSpPr/>
          <p:nvPr/>
        </p:nvGrpSpPr>
        <p:grpSpPr>
          <a:xfrm rot="0">
            <a:off x="14871577" y="3600450"/>
            <a:ext cx="3086100" cy="30861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2C5132"/>
            </a:solidFill>
          </p:spPr>
        </p:sp>
        <p:sp>
          <p:nvSpPr>
            <p:cNvPr name="TextBox 5" id="5"/>
            <p:cNvSpPr txBox="true"/>
            <p:nvPr/>
          </p:nvSpPr>
          <p:spPr>
            <a:xfrm>
              <a:off x="0" y="-85725"/>
              <a:ext cx="812800" cy="898525"/>
            </a:xfrm>
            <a:prstGeom prst="rect">
              <a:avLst/>
            </a:prstGeom>
          </p:spPr>
          <p:txBody>
            <a:bodyPr anchor="ctr" rtlCol="false" tIns="50800" lIns="50800" bIns="50800" rIns="50800"/>
            <a:lstStyle/>
            <a:p>
              <a:pPr algn="ctr">
                <a:lnSpc>
                  <a:spcPts val="6019"/>
                </a:lnSpc>
              </a:pPr>
              <a:r>
                <a:rPr lang="en-US" sz="4299" b="true">
                  <a:solidFill>
                    <a:srgbClr val="FFFFFF"/>
                  </a:solidFill>
                  <a:latin typeface="TT Hoves Bold"/>
                  <a:ea typeface="TT Hoves Bold"/>
                  <a:cs typeface="TT Hoves Bold"/>
                  <a:sym typeface="TT Hoves Bold"/>
                </a:rPr>
                <a:t>RPS =</a:t>
              </a:r>
            </a:p>
            <a:p>
              <a:pPr algn="ctr">
                <a:lnSpc>
                  <a:spcPts val="5179"/>
                </a:lnSpc>
              </a:pPr>
              <a:r>
                <a:rPr lang="en-US" b="true" sz="3699">
                  <a:solidFill>
                    <a:srgbClr val="FFFFFF"/>
                  </a:solidFill>
                  <a:latin typeface="TT Hoves Bold"/>
                  <a:ea typeface="TT Hoves Bold"/>
                  <a:cs typeface="TT Hoves Bold"/>
                  <a:sym typeface="TT Hoves Bold"/>
                </a:rPr>
                <a:t>RPT*IMPACT</a:t>
              </a:r>
            </a:p>
          </p:txBody>
        </p:sp>
      </p:grpSp>
      <p:sp>
        <p:nvSpPr>
          <p:cNvPr name="TextBox 6" id="6"/>
          <p:cNvSpPr txBox="true"/>
          <p:nvPr/>
        </p:nvSpPr>
        <p:spPr>
          <a:xfrm rot="0">
            <a:off x="5931878" y="2455525"/>
            <a:ext cx="1208832" cy="382270"/>
          </a:xfrm>
          <a:prstGeom prst="rect">
            <a:avLst/>
          </a:prstGeom>
        </p:spPr>
        <p:txBody>
          <a:bodyPr anchor="t" rtlCol="false" tIns="0" lIns="0" bIns="0" rIns="0">
            <a:spAutoFit/>
          </a:bodyPr>
          <a:lstStyle/>
          <a:p>
            <a:pPr algn="ctr">
              <a:lnSpc>
                <a:spcPts val="3079"/>
              </a:lnSpc>
              <a:spcBef>
                <a:spcPct val="0"/>
              </a:spcBef>
            </a:pPr>
            <a:r>
              <a:rPr lang="en-US" b="true" sz="2199">
                <a:solidFill>
                  <a:srgbClr val="000000"/>
                </a:solidFill>
                <a:latin typeface="TT Hoves Bold"/>
                <a:ea typeface="TT Hoves Bold"/>
                <a:cs typeface="TT Hoves Bold"/>
                <a:sym typeface="TT Hoves Bold"/>
              </a:rPr>
              <a:t>(RPT)</a:t>
            </a:r>
          </a:p>
        </p:txBody>
      </p:sp>
      <p:sp>
        <p:nvSpPr>
          <p:cNvPr name="TextBox 7" id="7"/>
          <p:cNvSpPr txBox="true"/>
          <p:nvPr/>
        </p:nvSpPr>
        <p:spPr>
          <a:xfrm rot="0">
            <a:off x="-220282" y="757200"/>
            <a:ext cx="10563134" cy="973616"/>
          </a:xfrm>
          <a:prstGeom prst="rect">
            <a:avLst/>
          </a:prstGeom>
        </p:spPr>
        <p:txBody>
          <a:bodyPr anchor="t" rtlCol="false" tIns="0" lIns="0" bIns="0" rIns="0">
            <a:spAutoFit/>
          </a:bodyPr>
          <a:lstStyle/>
          <a:p>
            <a:pPr algn="ctr">
              <a:lnSpc>
                <a:spcPts val="7982"/>
              </a:lnSpc>
              <a:spcBef>
                <a:spcPct val="0"/>
              </a:spcBef>
            </a:pPr>
            <a:r>
              <a:rPr lang="en-US" b="true" sz="5701">
                <a:solidFill>
                  <a:srgbClr val="CFFFBB"/>
                </a:solidFill>
                <a:latin typeface="TT Hoves Bold"/>
                <a:ea typeface="TT Hoves Bold"/>
                <a:cs typeface="TT Hoves Bold"/>
                <a:sym typeface="TT Hoves Bold"/>
              </a:rPr>
              <a:t>RPT &amp; RPS Analysis Table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41A1F"/>
        </a:solidFill>
      </p:bgPr>
    </p:bg>
    <p:spTree>
      <p:nvGrpSpPr>
        <p:cNvPr id="1" name=""/>
        <p:cNvGrpSpPr/>
        <p:nvPr/>
      </p:nvGrpSpPr>
      <p:grpSpPr>
        <a:xfrm>
          <a:off x="0" y="0"/>
          <a:ext cx="0" cy="0"/>
          <a:chOff x="0" y="0"/>
          <a:chExt cx="0" cy="0"/>
        </a:xfrm>
      </p:grpSpPr>
      <p:sp>
        <p:nvSpPr>
          <p:cNvPr name="Freeform 2" id="2"/>
          <p:cNvSpPr/>
          <p:nvPr/>
        </p:nvSpPr>
        <p:spPr>
          <a:xfrm flipH="false" flipV="false" rot="-658863">
            <a:off x="11995641" y="-1729005"/>
            <a:ext cx="9748070" cy="9748070"/>
          </a:xfrm>
          <a:custGeom>
            <a:avLst/>
            <a:gdLst/>
            <a:ahLst/>
            <a:cxnLst/>
            <a:rect r="r" b="b" t="t" l="l"/>
            <a:pathLst>
              <a:path h="9748070" w="9748070">
                <a:moveTo>
                  <a:pt x="0" y="0"/>
                </a:moveTo>
                <a:lnTo>
                  <a:pt x="9748070" y="0"/>
                </a:lnTo>
                <a:lnTo>
                  <a:pt x="9748070" y="9748069"/>
                </a:lnTo>
                <a:lnTo>
                  <a:pt x="0" y="97480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11133" y="1171513"/>
            <a:ext cx="9060321" cy="1414299"/>
          </a:xfrm>
          <a:prstGeom prst="rect">
            <a:avLst/>
          </a:prstGeom>
        </p:spPr>
        <p:txBody>
          <a:bodyPr anchor="t" rtlCol="false" tIns="0" lIns="0" bIns="0" rIns="0">
            <a:spAutoFit/>
          </a:bodyPr>
          <a:lstStyle/>
          <a:p>
            <a:pPr algn="l">
              <a:lnSpc>
                <a:spcPts val="11640"/>
              </a:lnSpc>
            </a:pPr>
            <a:r>
              <a:rPr lang="en-US" sz="8314" b="true">
                <a:solidFill>
                  <a:srgbClr val="B2FF81"/>
                </a:solidFill>
                <a:latin typeface="TT Hoves Bold"/>
                <a:ea typeface="TT Hoves Bold"/>
                <a:cs typeface="TT Hoves Bold"/>
                <a:sym typeface="TT Hoves Bold"/>
              </a:rPr>
              <a:t>CONCLUSION</a:t>
            </a:r>
          </a:p>
        </p:txBody>
      </p:sp>
      <p:sp>
        <p:nvSpPr>
          <p:cNvPr name="TextBox 4" id="4"/>
          <p:cNvSpPr txBox="true"/>
          <p:nvPr/>
        </p:nvSpPr>
        <p:spPr>
          <a:xfrm rot="0">
            <a:off x="1028700" y="2869201"/>
            <a:ext cx="15023942" cy="7122795"/>
          </a:xfrm>
          <a:prstGeom prst="rect">
            <a:avLst/>
          </a:prstGeom>
        </p:spPr>
        <p:txBody>
          <a:bodyPr anchor="t" rtlCol="false" tIns="0" lIns="0" bIns="0" rIns="0">
            <a:spAutoFit/>
          </a:bodyPr>
          <a:lstStyle/>
          <a:p>
            <a:pPr algn="l" marL="582927" indent="-291463" lvl="1">
              <a:lnSpc>
                <a:spcPts val="3779"/>
              </a:lnSpc>
              <a:buFont typeface="Arial"/>
              <a:buChar char="•"/>
            </a:pPr>
            <a:r>
              <a:rPr lang="en-US" b="true" sz="2699">
                <a:solidFill>
                  <a:srgbClr val="FFFFFF"/>
                </a:solidFill>
                <a:latin typeface="TT Hoves Bold"/>
                <a:ea typeface="TT Hoves Bold"/>
                <a:cs typeface="TT Hoves Bold"/>
                <a:sym typeface="TT Hoves Bold"/>
              </a:rPr>
              <a:t>Technical indicators like the Magic Band and RSI help traders identify trend directions, support/resistance levels, and momentum for informed decision-making.</a:t>
            </a:r>
          </a:p>
          <a:p>
            <a:pPr algn="l" marL="582927" indent="-291463" lvl="1">
              <a:lnSpc>
                <a:spcPts val="3779"/>
              </a:lnSpc>
              <a:buFont typeface="Arial"/>
              <a:buChar char="•"/>
            </a:pPr>
            <a:r>
              <a:rPr lang="en-US" b="true" sz="2699">
                <a:solidFill>
                  <a:srgbClr val="FFFFFF"/>
                </a:solidFill>
                <a:latin typeface="TT Hoves Bold"/>
                <a:ea typeface="TT Hoves Bold"/>
                <a:cs typeface="TT Hoves Bold"/>
                <a:sym typeface="TT Hoves Bold"/>
              </a:rPr>
              <a:t>Fibonacci extensions and resistance levels are useful in setting realistic profit targets and exit points.</a:t>
            </a:r>
          </a:p>
          <a:p>
            <a:pPr algn="l" marL="582927" indent="-291463" lvl="1">
              <a:lnSpc>
                <a:spcPts val="3779"/>
              </a:lnSpc>
              <a:buFont typeface="Arial"/>
              <a:buChar char="•"/>
            </a:pPr>
            <a:r>
              <a:rPr lang="en-US" b="true" sz="2699">
                <a:solidFill>
                  <a:srgbClr val="FFFFFF"/>
                </a:solidFill>
                <a:latin typeface="TT Hoves Bold"/>
                <a:ea typeface="TT Hoves Bold"/>
                <a:cs typeface="TT Hoves Bold"/>
                <a:sym typeface="TT Hoves Bold"/>
              </a:rPr>
              <a:t>Entries should be taken when price respects Magic Band support and RSI confirms bullish momentum, reducing the risk of false signals.</a:t>
            </a:r>
          </a:p>
          <a:p>
            <a:pPr algn="l" marL="582927" indent="-291463" lvl="1">
              <a:lnSpc>
                <a:spcPts val="3779"/>
              </a:lnSpc>
              <a:buFont typeface="Arial"/>
              <a:buChar char="•"/>
            </a:pPr>
            <a:r>
              <a:rPr lang="en-US" b="true" sz="2699">
                <a:solidFill>
                  <a:srgbClr val="FFFFFF"/>
                </a:solidFill>
                <a:latin typeface="TT Hoves Bold"/>
                <a:ea typeface="TT Hoves Bold"/>
                <a:cs typeface="TT Hoves Bold"/>
                <a:sym typeface="TT Hoves Bold"/>
              </a:rPr>
              <a:t>Stop losses are crucial to minimize potential losses, placed below swing lows or key support levels.</a:t>
            </a:r>
          </a:p>
          <a:p>
            <a:pPr algn="l" marL="582927" indent="-291463" lvl="1">
              <a:lnSpc>
                <a:spcPts val="3779"/>
              </a:lnSpc>
              <a:buFont typeface="Arial"/>
              <a:buChar char="•"/>
            </a:pPr>
            <a:r>
              <a:rPr lang="en-US" b="true" sz="2699">
                <a:solidFill>
                  <a:srgbClr val="FFFFFF"/>
                </a:solidFill>
                <a:latin typeface="TT Hoves Bold"/>
                <a:ea typeface="TT Hoves Bold"/>
                <a:cs typeface="TT Hoves Bold"/>
                <a:sym typeface="TT Hoves Bold"/>
              </a:rPr>
              <a:t>Combining Magic Band, RSI, and Fibonacci levels creates a disciplined trend-following strategy with controlled risk and favorable risk-reward ratios.</a:t>
            </a:r>
          </a:p>
          <a:p>
            <a:pPr algn="l" marL="582927" indent="-291463" lvl="1">
              <a:lnSpc>
                <a:spcPts val="3779"/>
              </a:lnSpc>
              <a:buFont typeface="Arial"/>
              <a:buChar char="•"/>
            </a:pPr>
            <a:r>
              <a:rPr lang="en-US" b="true" sz="2699">
                <a:solidFill>
                  <a:srgbClr val="FFFFFF"/>
                </a:solidFill>
                <a:latin typeface="TT Hoves Bold"/>
                <a:ea typeface="TT Hoves Bold"/>
                <a:cs typeface="TT Hoves Bold"/>
                <a:sym typeface="TT Hoves Bold"/>
              </a:rPr>
              <a:t>Risk management is essential for minimizing losses, analyzing potential risks, and making better investment decisions.</a:t>
            </a:r>
          </a:p>
          <a:p>
            <a:pPr algn="l" marL="582927" indent="-291463" lvl="1">
              <a:lnSpc>
                <a:spcPts val="3779"/>
              </a:lnSpc>
              <a:buFont typeface="Arial"/>
              <a:buChar char="•"/>
            </a:pPr>
            <a:r>
              <a:rPr lang="en-US" b="true" sz="2699">
                <a:solidFill>
                  <a:srgbClr val="FFFFFF"/>
                </a:solidFill>
                <a:latin typeface="TT Hoves Bold"/>
                <a:ea typeface="TT Hoves Bold"/>
                <a:cs typeface="TT Hoves Bold"/>
                <a:sym typeface="TT Hoves Bold"/>
              </a:rPr>
              <a:t>Overall, a structured approach using technical tools and risk management can improve trading outcomes in both stocks and cryptocurrencies.</a:t>
            </a:r>
          </a:p>
          <a:p>
            <a:pPr algn="l">
              <a:lnSpc>
                <a:spcPts val="3779"/>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17172" y="0"/>
                  </a:moveTo>
                  <a:lnTo>
                    <a:pt x="4257554" y="0"/>
                  </a:lnTo>
                  <a:cubicBezTo>
                    <a:pt x="4267038" y="0"/>
                    <a:pt x="4274726" y="7688"/>
                    <a:pt x="4274726" y="17172"/>
                  </a:cubicBezTo>
                  <a:lnTo>
                    <a:pt x="4274726" y="2150295"/>
                  </a:lnTo>
                  <a:cubicBezTo>
                    <a:pt x="4274726" y="2159779"/>
                    <a:pt x="4267038" y="2167467"/>
                    <a:pt x="4257554" y="2167467"/>
                  </a:cubicBezTo>
                  <a:lnTo>
                    <a:pt x="17172" y="2167467"/>
                  </a:lnTo>
                  <a:cubicBezTo>
                    <a:pt x="7688" y="2167467"/>
                    <a:pt x="0" y="2159779"/>
                    <a:pt x="0" y="2150295"/>
                  </a:cubicBezTo>
                  <a:lnTo>
                    <a:pt x="0" y="17172"/>
                  </a:lnTo>
                  <a:cubicBezTo>
                    <a:pt x="0" y="7688"/>
                    <a:pt x="7688" y="0"/>
                    <a:pt x="17172" y="0"/>
                  </a:cubicBezTo>
                  <a:close/>
                </a:path>
              </a:pathLst>
            </a:custGeom>
            <a:gradFill rotWithShape="true">
              <a:gsLst>
                <a:gs pos="0">
                  <a:srgbClr val="000000">
                    <a:alpha val="70000"/>
                  </a:srgbClr>
                </a:gs>
                <a:gs pos="100000">
                  <a:srgbClr val="33CD91">
                    <a:alpha val="70000"/>
                  </a:srgbClr>
                </a:gs>
              </a:gsLst>
              <a:lin ang="0"/>
            </a:gradFill>
            <a:ln w="47625" cap="rnd">
              <a:solidFill>
                <a:srgbClr val="BEC2C7">
                  <a:alpha val="69804"/>
                </a:srgbClr>
              </a:solidFill>
              <a:prstDash val="solid"/>
              <a:round/>
            </a:ln>
          </p:spPr>
        </p:sp>
        <p:sp>
          <p:nvSpPr>
            <p:cNvPr name="TextBox 5" id="5"/>
            <p:cNvSpPr txBox="true"/>
            <p:nvPr/>
          </p:nvSpPr>
          <p:spPr>
            <a:xfrm>
              <a:off x="0" y="-47625"/>
              <a:ext cx="4274726" cy="2215092"/>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2261281" y="7781528"/>
            <a:ext cx="13765437" cy="0"/>
          </a:xfrm>
          <a:prstGeom prst="line">
            <a:avLst/>
          </a:prstGeom>
          <a:ln cap="flat" w="19050">
            <a:solidFill>
              <a:srgbClr val="FFFFFF"/>
            </a:solidFill>
            <a:prstDash val="solid"/>
            <a:headEnd type="none" len="sm" w="sm"/>
            <a:tailEnd type="none" len="sm" w="sm"/>
          </a:ln>
        </p:spPr>
      </p:sp>
      <p:sp>
        <p:nvSpPr>
          <p:cNvPr name="Freeform 7" id="7"/>
          <p:cNvSpPr/>
          <p:nvPr/>
        </p:nvSpPr>
        <p:spPr>
          <a:xfrm flipH="false" flipV="false" rot="0">
            <a:off x="2814881" y="1824042"/>
            <a:ext cx="12646426" cy="6645122"/>
          </a:xfrm>
          <a:custGeom>
            <a:avLst/>
            <a:gdLst/>
            <a:ahLst/>
            <a:cxnLst/>
            <a:rect r="r" b="b" t="t" l="l"/>
            <a:pathLst>
              <a:path h="6645122" w="12646426">
                <a:moveTo>
                  <a:pt x="0" y="0"/>
                </a:moveTo>
                <a:lnTo>
                  <a:pt x="12646427" y="0"/>
                </a:lnTo>
                <a:lnTo>
                  <a:pt x="12646427" y="6645122"/>
                </a:lnTo>
                <a:lnTo>
                  <a:pt x="0" y="6645122"/>
                </a:lnTo>
                <a:lnTo>
                  <a:pt x="0" y="0"/>
                </a:lnTo>
                <a:close/>
              </a:path>
            </a:pathLst>
          </a:custGeom>
          <a:blipFill>
            <a:blip r:embed="rId3">
              <a:alphaModFix amt="44999"/>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4465129" y="4172347"/>
            <a:ext cx="9357743" cy="1742281"/>
          </a:xfrm>
          <a:prstGeom prst="rect">
            <a:avLst/>
          </a:prstGeom>
        </p:spPr>
        <p:txBody>
          <a:bodyPr anchor="t" rtlCol="false" tIns="0" lIns="0" bIns="0" rIns="0">
            <a:spAutoFit/>
          </a:bodyPr>
          <a:lstStyle/>
          <a:p>
            <a:pPr algn="ctr">
              <a:lnSpc>
                <a:spcPts val="14218"/>
              </a:lnSpc>
            </a:pPr>
            <a:r>
              <a:rPr lang="en-US" sz="10156" b="true">
                <a:solidFill>
                  <a:srgbClr val="FFFFFF"/>
                </a:solidFill>
                <a:latin typeface="TT Hoves Bold"/>
                <a:ea typeface="TT Hoves Bold"/>
                <a:cs typeface="TT Hoves Bold"/>
                <a:sym typeface="TT Hove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DAG9EULaISE</dc:identifier>
  <dcterms:modified xsi:type="dcterms:W3CDTF">2011-08-01T06:04:30Z</dcterms:modified>
  <cp:revision>1</cp:revision>
  <dc:title>Stock Market &amp; Cryptocurrency</dc:title>
</cp:coreProperties>
</file>